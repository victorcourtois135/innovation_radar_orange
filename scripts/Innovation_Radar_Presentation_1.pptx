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9" r:id="rId11"/>
    <p:sldId id="266" r:id="rId12"/>
    <p:sldId id="271" r:id="rId13"/>
    <p:sldId id="265" r:id="rId14"/>
    <p:sldId id="268"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42"/>
    <p:restoredTop sz="94610"/>
  </p:normalViewPr>
  <p:slideViewPr>
    <p:cSldViewPr snapToGrid="0" snapToObjects="1">
      <p:cViewPr varScale="1">
        <p:scale>
          <a:sx n="122" d="100"/>
          <a:sy n="122" d="100"/>
        </p:scale>
        <p:origin x="208" y="10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8509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30 seconds, do not read the slide.
Say who you are, then land the one sentence: "Orange Business asked us to find emerging opportunity spaces before their competitors act on them. We built a system that reads the open web every day and hands you a ranked shortlist with the evidence attached."
BeCode note: introduce the four of you by ROLE, not just name — the jury is assessing whether this was really a team project. Gunay: team lead. Victor: repo and tech lead. Mahalakshmi: data architect. Anna: documentation.
Do NOT open the dashboard yet. The client said explicitly they care about the process behind it more than the screen.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contract for the whole talk. Read the quote out loud — it justifies why the next six slides are about the pipeline and not about the UI.
If you only have 10 minutes: keep this slide. It is the cheapest way to show you listened.
BeCode note: the jury wants evidence you scoped the problem rather than jumped to code. Mention that requirement 4 (three audiences) is the one you have only partly delivered — you will be honest about that on the limitations slide. Flagging it early makes the later honesty read as planned, not defensive.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then the italic line — that line is the thesis of the whole project. Say it slowly.
Be ready for the obvious challenge: "only 7 opportunities from 619 signals?" Answer it head-on rather than hoping nobody asks: the clustering threshold is deliberately strict (3+ signals above 0.82 cosine similarity), because a single article should never become an opportunity. You would rather show seven you can defend than fifty you cannot. You return to this on the limitations slide.
BeCode note: "four computed in code, one judged by the model" is the single strongest engineering decision in the project. Do not let it go by in one breath.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IN THE DECK. Spend real time here. If you cut anything, do not cut this.
Walk left to right once, one sentence per box. Then deliver the closing line as the design principle: an LLM where judgement is genuinely needed, plain code everywhere else. That is what makes the output reproducible.
Anticipate: "why not let the agent do all of it?" Because a scoring step that is a model call is a scoring step you cannot reproduce, cannot audit, and cannot explain to a client who asks why one opportunity beat another.
BeCode note: name the technologies out loud as you pass each box — Azure AI Foundry, Azure SQL, text-embedding-3-large, union-find clustering in Python. The jury is listening for whether you can explain your own stack.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Ten-minute version: MERGE this with slide 6 and give the pair 90 seconds.
The line to land: "keyword matching would miss this — two articles about the same thing that share no words still end up in the same cluster, because we compare meaning, not text."
Expect the question "why 0.82?" Honest answer: it was tuned by hand and it is strict. Say so. It is on the limitations slide as an open number, not a settled one.
BeCode note: if asked, union-find is the standard disjoint-set structure — you build an edge list from the SQL similarity query and merge transitively, so A~B and B~C puts all three in one cluster.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a client sit up, because it shows you understood THEIR business and not just the data problem.
Deliver it as the two-line story it is: same technology, same use case, different geography, opposite answer.
If the client is in the room, invite them to correct the capability list — it is a snapshot the team assembled from public sources, with a "last verified" date, and it is the part of the system that most needs their input. That turns a limitation into an ask, which is a much better position to be in.
BeCode note: mention that the capability list lives in the agent prompt with a freshness check step, so it is versioned with the code rather than living in someone's head.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Point at the SOURCE column and say the closing line — that is the whole slide.
Have the arithmetic ready if challenged. Worked example, OS-001: 0.30×81.2 + 0.20×83.0 + 0.15×54.2 + 0.15×86.8 + 0.20×70 = 76.1. Every stored score reproduces from these weights, all seven of them. We checked.
Expect: "who chose the weights?" Honest answer: the team, from the original brief, and they are a starting point rather than a validated model. There is no ground truth to fit them against — nobody has told us which past opportunities turned into revenue. Say that plainly; it is a much better answer than pretending they are optimal.
BeCode note: the tiering behind evidence quality is a 65-row source registry the team classified — regulators and wire services at tier 1, company press releases at tier 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switch to the live app if the room is warm and the wifi is working. Two minutes maximum, then come back to the deck.
If you demo: click one bubble, land on the detail page, scroll to the supporting signals table, and open one source URL. That single click chain — bubble to article — is the entire value proposition made concrete. Rehearse it.
Have a fallback. Screenshots are in this deck for exactly that reason. Never say "it normally works."
BeCode note: the empty outer ring is not a bug. Nothing in the current data is slow-moving, and leaving the ring drawn says 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strongest slide with a business audience. One concrete, real, checkable example beats any amount of architecture.
Read the "why it matters" line as written — it names a real competitor, a real port and a real gap. That specificity is what separates this from a generic trend report.
The "next action" field is worth calling out: every opportunity carries one concrete recommended step, because a radar that stops at "this is interesting" creates work rather than removing it.
BeCode note: all three narrative fields are generated by the model from the clustered signals, under a prompt that forbids inventing facts not present in the sources. Say that — the jury will want to know where the prose came from.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only if asked "how much did you actually collect?" or "where does this come from?"
The point in one line: the growth through 2026 is real, but it is mostly news and press releases, with regulator filings growing underneath. That mix is exactly what the credibility factor scores.
Be honest about the shape if you show it: the curve rises steeply in 2026 partly because the search brief asks for 2026 material. It is not a neutral measurement of what the world published, and the tool says so in a caption on the page. Volunteer that before anyone asks.
BeCode note: 619 signals, 440 distinct publications, 20 countries, median age 150 days.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main deck on this. It moves the conversation from "look what we made" to "here is what it would take" — which is the question a client is actually holding.
The highlighted box is the most important thing on the slide. Say it plainly: right now this is a very good snapshot. One more piece of work turns it into something that tells you what changed since last week, and that is where the real value sits for a standing intelligence function.
Do not quote a price. If asked about cost, describe the shape — searches and a small number of write-ups per run — and offer to come back with a number.
If the client asks "could our team run this?" the answer is yes: it runs on Azure, the search brief is a plain text file anyone can edit, and the repository is documented.
BeCode note: this slide is the closest thing to a commercial proposal in the deck, and that is deliberate — the exercise was framed as a client engagement.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rather than on limitations — you want the room's last technical impression to be forward-looking.
If the client is present, item 5 is really a question for them: "you told us ten to twenty is the number you would work with. Is that still right?" Ending on a question they can answer makes this a conversation rather than a presentation.
BeCode note: item 2 is a real defect you found by auditing your own output, not a feature request. Say that — finding your own bugs counts for more than not having any.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and do not apologise your way through it. With a client, honesty about limits is what makes everything else believable.
Framing that works: "we could have shown you fifty opportunity spaces. We are showing you seven we can defend, and here is exactly why the other forty-three did not make it."
Turn items 1 and 3 into questions for the room. "Is ten to twenty still the right number?" and "who on your side would own the capability list?" — that converts a limitation into a decision they get to make, which is a much stronger place to end up than defending a gap.
Concrete example to have ready if pushed: eleven of our articles mention cybersecurity, and none of them formed a group of three, so there is no cybersecurity opportunity on the radar. That is our threshold, not an absence of activity in the market.
BeCode note (if a coach is in the room): this is the slide that shows engineering judgement. A team that can name its own failure modes precisely is demonstrating more than a team with no failures to name. If you are short on time, cut the appendix, never this.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walk into the appendix by default. Stop at the thank-you slide and take questions.
Come here only if someone asks how it is built — then the next two slides answer it without you having to improvise.
BeCode note: if a coach asks a technical question during Q&amp;A, this is where you go. Having the depth ready but not forced on the client is the professional move, and the jury will notice you made that choice deliberately.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only if someone asks how it is built. Do not volunteer this to a business audience.
The closing line is the decision worth defending: we considered a separate vector database and chose not to, because one system you can query with plain SQL beats two systems that have to stay in agreement with each other.
If asked about deployment: the app reads live Azure SQL when credentials are present and falls back to a committed snapshot otherwise, because the free Streamlit host cannot install the database driver. That fallback is why a demo works from any room, on any network.
BeCode note: this is where the technical marks are. Be ready to name the pieces — Azure AI Foundry with Bing grounding for collection, text-embedding-3-large stored as VECTOR(1536) in the signals table, cosine similarity above 0.82 with union-find grouping in Python, minimum cluster size three, Azure SQL throughout, Streamlit for the interface.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7498080" y="594360"/>
            <a:ext cx="5669280" cy="5669280"/>
          </a:xfrm>
          <a:prstGeom prst="ellipse">
            <a:avLst/>
          </a:prstGeom>
          <a:ln w="9525">
            <a:solidFill>
              <a:srgbClr val="2E2E2E"/>
            </a:solidFill>
            <a:prstDash val="solid"/>
          </a:ln>
        </p:spPr>
        <p:txBody>
          <a:bodyPr/>
          <a:lstStyle/>
          <a:p>
            <a:endParaRPr lang="en-BE"/>
          </a:p>
        </p:txBody>
      </p:sp>
      <p:sp>
        <p:nvSpPr>
          <p:cNvPr id="3" name="Shape 1"/>
          <p:cNvSpPr/>
          <p:nvPr/>
        </p:nvSpPr>
        <p:spPr>
          <a:xfrm>
            <a:off x="8291779" y="1388059"/>
            <a:ext cx="4081882" cy="4081882"/>
          </a:xfrm>
          <a:prstGeom prst="ellipse">
            <a:avLst/>
          </a:prstGeom>
          <a:ln w="9525">
            <a:solidFill>
              <a:srgbClr val="2E2E2E"/>
            </a:solidFill>
            <a:prstDash val="solid"/>
          </a:ln>
        </p:spPr>
        <p:txBody>
          <a:bodyPr/>
          <a:lstStyle/>
          <a:p>
            <a:endParaRPr lang="en-BE"/>
          </a:p>
        </p:txBody>
      </p:sp>
      <p:sp>
        <p:nvSpPr>
          <p:cNvPr id="4" name="Shape 2"/>
          <p:cNvSpPr/>
          <p:nvPr/>
        </p:nvSpPr>
        <p:spPr>
          <a:xfrm>
            <a:off x="9028786" y="2125066"/>
            <a:ext cx="2607869" cy="2607869"/>
          </a:xfrm>
          <a:prstGeom prst="ellipse">
            <a:avLst/>
          </a:prstGeom>
          <a:ln w="9525">
            <a:solidFill>
              <a:srgbClr val="2E2E2E"/>
            </a:solidFill>
            <a:prstDash val="solid"/>
          </a:ln>
        </p:spPr>
        <p:txBody>
          <a:bodyPr/>
          <a:lstStyle/>
          <a:p>
            <a:endParaRPr lang="en-BE"/>
          </a:p>
        </p:txBody>
      </p:sp>
      <p:sp>
        <p:nvSpPr>
          <p:cNvPr id="5" name="Shape 3"/>
          <p:cNvSpPr/>
          <p:nvPr/>
        </p:nvSpPr>
        <p:spPr>
          <a:xfrm>
            <a:off x="9709099" y="2805379"/>
            <a:ext cx="1247242" cy="1247242"/>
          </a:xfrm>
          <a:prstGeom prst="ellipse">
            <a:avLst/>
          </a:prstGeom>
          <a:ln w="9525">
            <a:solidFill>
              <a:srgbClr val="2E2E2E"/>
            </a:solidFill>
            <a:prstDash val="solid"/>
          </a:ln>
        </p:spPr>
        <p:txBody>
          <a:bodyPr/>
          <a:lstStyle/>
          <a:p>
            <a:endParaRPr lang="en-BE"/>
          </a:p>
        </p:txBody>
      </p:sp>
      <p:sp>
        <p:nvSpPr>
          <p:cNvPr id="6" name="Shape 4"/>
          <p:cNvSpPr/>
          <p:nvPr/>
        </p:nvSpPr>
        <p:spPr>
          <a:xfrm>
            <a:off x="10204704" y="3300984"/>
            <a:ext cx="256032" cy="256032"/>
          </a:xfrm>
          <a:prstGeom prst="ellipse">
            <a:avLst/>
          </a:prstGeom>
          <a:solidFill>
            <a:srgbClr val="FF7900"/>
          </a:solidFill>
          <a:ln/>
        </p:spPr>
        <p:txBody>
          <a:bodyPr/>
          <a:lstStyle/>
          <a:p>
            <a:endParaRPr lang="en-BE"/>
          </a:p>
        </p:txBody>
      </p:sp>
      <p:sp>
        <p:nvSpPr>
          <p:cNvPr id="7" name="Shape 5"/>
          <p:cNvSpPr/>
          <p:nvPr/>
        </p:nvSpPr>
        <p:spPr>
          <a:xfrm>
            <a:off x="9189720" y="2670048"/>
            <a:ext cx="182880" cy="182880"/>
          </a:xfrm>
          <a:prstGeom prst="ellipse">
            <a:avLst/>
          </a:prstGeom>
          <a:solidFill>
            <a:srgbClr val="2A78D6"/>
          </a:solidFill>
          <a:ln/>
        </p:spPr>
        <p:txBody>
          <a:bodyPr/>
          <a:lstStyle/>
          <a:p>
            <a:endParaRPr lang="en-BE"/>
          </a:p>
        </p:txBody>
      </p:sp>
      <p:sp>
        <p:nvSpPr>
          <p:cNvPr id="8" name="Shape 6"/>
          <p:cNvSpPr/>
          <p:nvPr/>
        </p:nvSpPr>
        <p:spPr>
          <a:xfrm>
            <a:off x="11247120" y="4343400"/>
            <a:ext cx="146304" cy="146304"/>
          </a:xfrm>
          <a:prstGeom prst="ellipse">
            <a:avLst/>
          </a:prstGeom>
          <a:solidFill>
            <a:srgbClr val="4A3AA7"/>
          </a:solidFill>
          <a:ln/>
        </p:spPr>
        <p:txBody>
          <a:bodyPr/>
          <a:lstStyle/>
          <a:p>
            <a:endParaRPr lang="en-BE"/>
          </a:p>
        </p:txBody>
      </p:sp>
      <p:sp>
        <p:nvSpPr>
          <p:cNvPr id="9" name="Text 7"/>
          <p:cNvSpPr txBox="1"/>
          <p:nvPr/>
        </p:nvSpPr>
        <p:spPr>
          <a:xfrm>
            <a:off x="822960" y="1600200"/>
            <a:ext cx="7315200" cy="274320"/>
          </a:xfrm>
          <a:prstGeom prst="rect">
            <a:avLst/>
          </a:prstGeom>
          <a:noFill/>
          <a:ln/>
        </p:spPr>
        <p:txBody>
          <a:bodyPr wrap="square" lIns="0" tIns="0" rIns="0" bIns="0" rtlCol="0" anchor="ctr"/>
          <a:lstStyle/>
          <a:p>
            <a:pPr marL="0" indent="0">
              <a:buNone/>
            </a:pPr>
            <a:r>
              <a:rPr lang="en-US" sz="1100" b="1" kern="0" spc="200" dirty="0">
                <a:solidFill>
                  <a:srgbClr val="FF7900"/>
                </a:solidFill>
                <a:latin typeface="Calibri" pitchFamily="34" charset="0"/>
                <a:ea typeface="Calibri" pitchFamily="34" charset="-122"/>
                <a:cs typeface="Calibri" pitchFamily="34" charset="-120"/>
              </a:rPr>
              <a:t>ORANGE BUSINESS  ·  BECODE AI &amp; DATA SCIENCE</a:t>
            </a:r>
            <a:endParaRPr lang="en-US" sz="1100" dirty="0"/>
          </a:p>
        </p:txBody>
      </p:sp>
      <p:sp>
        <p:nvSpPr>
          <p:cNvPr id="10" name="Text 8"/>
          <p:cNvSpPr txBox="1"/>
          <p:nvPr/>
        </p:nvSpPr>
        <p:spPr>
          <a:xfrm>
            <a:off x="822960" y="2011680"/>
            <a:ext cx="7863840" cy="1188720"/>
          </a:xfrm>
          <a:prstGeom prst="rect">
            <a:avLst/>
          </a:prstGeom>
          <a:noFill/>
          <a:ln/>
        </p:spPr>
        <p:txBody>
          <a:bodyPr wrap="square" lIns="0" tIns="0" rIns="0" bIns="0" rtlCol="0" anchor="ctr"/>
          <a:lstStyle/>
          <a:p>
            <a:pPr marL="0" indent="0">
              <a:buNone/>
            </a:pPr>
            <a:r>
              <a:rPr lang="en-US" sz="6000" b="1" kern="0" spc="-150" dirty="0">
                <a:solidFill>
                  <a:srgbClr val="FFFFFF"/>
                </a:solidFill>
                <a:latin typeface="Arial" pitchFamily="34" charset="0"/>
                <a:ea typeface="Arial" pitchFamily="34" charset="-122"/>
                <a:cs typeface="Arial" pitchFamily="34" charset="-120"/>
              </a:rPr>
              <a:t>Innovation Radar</a:t>
            </a:r>
            <a:endParaRPr lang="en-US" sz="6000" dirty="0"/>
          </a:p>
        </p:txBody>
      </p:sp>
      <p:sp>
        <p:nvSpPr>
          <p:cNvPr id="11" name="Text 9"/>
          <p:cNvSpPr txBox="1"/>
          <p:nvPr/>
        </p:nvSpPr>
        <p:spPr>
          <a:xfrm>
            <a:off x="822960" y="3246120"/>
            <a:ext cx="7498080" cy="822960"/>
          </a:xfrm>
          <a:prstGeom prst="rect">
            <a:avLst/>
          </a:prstGeom>
          <a:noFill/>
          <a:ln/>
        </p:spPr>
        <p:txBody>
          <a:bodyPr wrap="square" lIns="0" tIns="0" rIns="0" bIns="0" rtlCol="0" anchor="ctr"/>
          <a:lstStyle/>
          <a:p>
            <a:pPr marL="0" indent="0">
              <a:lnSpc>
                <a:spcPts val="2400"/>
              </a:lnSpc>
              <a:buNone/>
            </a:pPr>
            <a:r>
              <a:rPr lang="en-US" sz="1600" dirty="0">
                <a:solidFill>
                  <a:srgbClr val="C9C9C9"/>
                </a:solidFill>
                <a:latin typeface="Calibri" pitchFamily="34" charset="0"/>
                <a:ea typeface="Calibri" pitchFamily="34" charset="-122"/>
                <a:cs typeface="Calibri" pitchFamily="34" charset="-120"/>
              </a:rPr>
              <a:t>Finding the opportunity spaces worth your attention —</a:t>
            </a:r>
            <a:endParaRPr lang="en-US" sz="1600" dirty="0"/>
          </a:p>
          <a:p>
            <a:pPr marL="0" indent="0">
              <a:lnSpc>
                <a:spcPts val="2400"/>
              </a:lnSpc>
              <a:buNone/>
            </a:pPr>
            <a:r>
              <a:rPr lang="en-US" sz="1600" dirty="0">
                <a:solidFill>
                  <a:srgbClr val="C9C9C9"/>
                </a:solidFill>
                <a:latin typeface="Calibri" pitchFamily="34" charset="0"/>
                <a:ea typeface="Calibri" pitchFamily="34" charset="-122"/>
                <a:cs typeface="Calibri" pitchFamily="34" charset="-120"/>
              </a:rPr>
              <a:t>before your competitors act on them.</a:t>
            </a:r>
            <a:endParaRPr lang="en-US" sz="1600" dirty="0"/>
          </a:p>
        </p:txBody>
      </p:sp>
      <p:sp>
        <p:nvSpPr>
          <p:cNvPr id="12" name="Text 10"/>
          <p:cNvSpPr txBox="1"/>
          <p:nvPr/>
        </p:nvSpPr>
        <p:spPr>
          <a:xfrm>
            <a:off x="822960" y="5394960"/>
            <a:ext cx="8229600" cy="274320"/>
          </a:xfrm>
          <a:prstGeom prst="rect">
            <a:avLst/>
          </a:prstGeom>
          <a:noFill/>
          <a:ln/>
        </p:spPr>
        <p:txBody>
          <a:bodyPr wrap="square" lIns="0" tIns="0" rIns="0" bIns="0" rtlCol="0" anchor="ctr"/>
          <a:lstStyle/>
          <a:p>
            <a:pPr marL="0" indent="0">
              <a:buNone/>
            </a:pPr>
            <a:r>
              <a:rPr lang="en-US" sz="1250" dirty="0">
                <a:solidFill>
                  <a:srgbClr val="9A9A9A"/>
                </a:solidFill>
                <a:latin typeface="Calibri" pitchFamily="34" charset="0"/>
                <a:ea typeface="Calibri" pitchFamily="34" charset="-122"/>
                <a:cs typeface="Calibri" pitchFamily="34" charset="-120"/>
              </a:rPr>
              <a:t>Gunay Bayramova  ·  Victor Courtois  ·  Mahalakshmi Palanivel  ·  Anna Diacofotaki</a:t>
            </a:r>
            <a:endParaRPr lang="en-US" sz="1250" dirty="0"/>
          </a:p>
        </p:txBody>
      </p:sp>
      <p:sp>
        <p:nvSpPr>
          <p:cNvPr id="13" name="Text 11"/>
          <p:cNvSpPr txBox="1"/>
          <p:nvPr/>
        </p:nvSpPr>
        <p:spPr>
          <a:xfrm>
            <a:off x="822960" y="5715000"/>
            <a:ext cx="8229600" cy="274320"/>
          </a:xfrm>
          <a:prstGeom prst="rect">
            <a:avLst/>
          </a:prstGeom>
          <a:noFill/>
          <a:ln/>
        </p:spPr>
        <p:txBody>
          <a:bodyPr wrap="square" lIns="0" tIns="0" rIns="0" bIns="0" rtlCol="0" anchor="ctr"/>
          <a:lstStyle/>
          <a:p>
            <a:pPr marL="0" indent="0">
              <a:buNone/>
            </a:pPr>
            <a:r>
              <a:rPr lang="en-US" sz="1100" dirty="0">
                <a:solidFill>
                  <a:srgbClr val="8E8E8E"/>
                </a:solidFill>
                <a:latin typeface="Calibri" pitchFamily="34" charset="0"/>
                <a:ea typeface="Calibri" pitchFamily="34" charset="-122"/>
                <a:cs typeface="Calibri" pitchFamily="34" charset="-120"/>
              </a:rPr>
              <a:t>A two-week project</a:t>
            </a:r>
            <a:endParaRPr lang="en-US" sz="1100" dirty="0"/>
          </a:p>
        </p:txBody>
      </p:sp>
      <p:sp>
        <p:nvSpPr>
          <p:cNvPr id="15" name="Text 12"/>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THE BRIEF</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Find the opportunity before the competitor does</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What Orange Business asked for, in their words and ours</a:t>
            </a:r>
            <a:endParaRPr lang="en-US" sz="1450" dirty="0"/>
          </a:p>
        </p:txBody>
      </p:sp>
      <p:sp>
        <p:nvSpPr>
          <p:cNvPr id="5" name="Shape 3"/>
          <p:cNvSpPr/>
          <p:nvPr/>
        </p:nvSpPr>
        <p:spPr>
          <a:xfrm>
            <a:off x="713232" y="2203704"/>
            <a:ext cx="475488" cy="475488"/>
          </a:xfrm>
          <a:prstGeom prst="ellipse">
            <a:avLst/>
          </a:prstGeom>
          <a:solidFill>
            <a:srgbClr val="FF7900"/>
          </a:solidFill>
          <a:ln/>
        </p:spPr>
        <p:txBody>
          <a:bodyPr/>
          <a:lstStyle/>
          <a:p>
            <a:endParaRPr lang="en-BE"/>
          </a:p>
        </p:txBody>
      </p:sp>
      <p:sp>
        <p:nvSpPr>
          <p:cNvPr id="6" name="Text 4"/>
          <p:cNvSpPr txBox="1"/>
          <p:nvPr/>
        </p:nvSpPr>
        <p:spPr>
          <a:xfrm>
            <a:off x="713232" y="2244852"/>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389888" y="2194560"/>
            <a:ext cx="6035040" cy="292608"/>
          </a:xfrm>
          <a:prstGeom prst="rect">
            <a:avLst/>
          </a:prstGeom>
          <a:noFill/>
          <a:ln/>
        </p:spPr>
        <p:txBody>
          <a:bodyPr wrap="square" lIns="0" tIns="0" rIns="0" bIns="0" rtlCol="0" anchor="t"/>
          <a:lstStyle/>
          <a:p>
            <a:pPr marL="0" indent="0">
              <a:buNone/>
            </a:pPr>
            <a:r>
              <a:rPr lang="en-US" sz="1500" b="1" dirty="0">
                <a:solidFill>
                  <a:srgbClr val="121212"/>
                </a:solidFill>
                <a:latin typeface="Arial" pitchFamily="34" charset="0"/>
                <a:ea typeface="Arial" pitchFamily="34" charset="-122"/>
                <a:cs typeface="Arial" pitchFamily="34" charset="-120"/>
              </a:rPr>
              <a:t>Automate the watching</a:t>
            </a:r>
            <a:endParaRPr lang="en-US" sz="1500" dirty="0"/>
          </a:p>
        </p:txBody>
      </p:sp>
      <p:sp>
        <p:nvSpPr>
          <p:cNvPr id="8" name="Text 6"/>
          <p:cNvSpPr txBox="1"/>
          <p:nvPr/>
        </p:nvSpPr>
        <p:spPr>
          <a:xfrm>
            <a:off x="1389888" y="2523744"/>
            <a:ext cx="6035040" cy="603504"/>
          </a:xfrm>
          <a:prstGeom prst="rect">
            <a:avLst/>
          </a:prstGeom>
          <a:noFill/>
          <a:ln/>
        </p:spPr>
        <p:txBody>
          <a:bodyPr wrap="square" lIns="0" tIns="0" rIns="0" bIns="0" rtlCol="0" anchor="t"/>
          <a:lstStyle/>
          <a:p>
            <a:pPr marL="0" indent="0">
              <a:lnSpc>
                <a:spcPts val="1600"/>
              </a:lnSpc>
              <a:buNone/>
            </a:pPr>
            <a:r>
              <a:rPr lang="en-US" sz="1250" dirty="0">
                <a:solidFill>
                  <a:srgbClr val="3A3A3A"/>
                </a:solidFill>
                <a:latin typeface="Calibri" pitchFamily="34" charset="0"/>
                <a:ea typeface="Calibri" pitchFamily="34" charset="-122"/>
                <a:cs typeface="Calibri" pitchFamily="34" charset="-120"/>
              </a:rPr>
              <a:t>Scan the open web continuously for competitor moves, new deployments, regulation and emerging technology — not a person reading news once a week.</a:t>
            </a:r>
            <a:endParaRPr lang="en-US" sz="1250" dirty="0"/>
          </a:p>
        </p:txBody>
      </p:sp>
      <p:sp>
        <p:nvSpPr>
          <p:cNvPr id="9" name="Shape 7"/>
          <p:cNvSpPr/>
          <p:nvPr/>
        </p:nvSpPr>
        <p:spPr>
          <a:xfrm>
            <a:off x="713232" y="3209544"/>
            <a:ext cx="475488" cy="475488"/>
          </a:xfrm>
          <a:prstGeom prst="ellipse">
            <a:avLst/>
          </a:prstGeom>
          <a:solidFill>
            <a:srgbClr val="FF7900"/>
          </a:solidFill>
          <a:ln/>
        </p:spPr>
        <p:txBody>
          <a:bodyPr/>
          <a:lstStyle/>
          <a:p>
            <a:endParaRPr lang="en-BE"/>
          </a:p>
        </p:txBody>
      </p:sp>
      <p:sp>
        <p:nvSpPr>
          <p:cNvPr id="10" name="Text 8"/>
          <p:cNvSpPr txBox="1"/>
          <p:nvPr/>
        </p:nvSpPr>
        <p:spPr>
          <a:xfrm>
            <a:off x="713232" y="3250692"/>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389888" y="3200400"/>
            <a:ext cx="6035040" cy="292608"/>
          </a:xfrm>
          <a:prstGeom prst="rect">
            <a:avLst/>
          </a:prstGeom>
          <a:noFill/>
          <a:ln/>
        </p:spPr>
        <p:txBody>
          <a:bodyPr wrap="square" lIns="0" tIns="0" rIns="0" bIns="0" rtlCol="0" anchor="t"/>
          <a:lstStyle/>
          <a:p>
            <a:pPr marL="0" indent="0">
              <a:buNone/>
            </a:pPr>
            <a:r>
              <a:rPr lang="en-US" sz="1500" b="1" dirty="0">
                <a:solidFill>
                  <a:srgbClr val="121212"/>
                </a:solidFill>
                <a:latin typeface="Arial" pitchFamily="34" charset="0"/>
                <a:ea typeface="Arial" pitchFamily="34" charset="-122"/>
                <a:cs typeface="Arial" pitchFamily="34" charset="-120"/>
              </a:rPr>
              <a:t>Turn noise into structure</a:t>
            </a:r>
            <a:endParaRPr lang="en-US" sz="1500" dirty="0"/>
          </a:p>
        </p:txBody>
      </p:sp>
      <p:sp>
        <p:nvSpPr>
          <p:cNvPr id="12" name="Text 10"/>
          <p:cNvSpPr txBox="1"/>
          <p:nvPr/>
        </p:nvSpPr>
        <p:spPr>
          <a:xfrm>
            <a:off x="1389888" y="3529584"/>
            <a:ext cx="6035040" cy="603504"/>
          </a:xfrm>
          <a:prstGeom prst="rect">
            <a:avLst/>
          </a:prstGeom>
          <a:noFill/>
          <a:ln/>
        </p:spPr>
        <p:txBody>
          <a:bodyPr wrap="square" lIns="0" tIns="0" rIns="0" bIns="0" rtlCol="0" anchor="t"/>
          <a:lstStyle/>
          <a:p>
            <a:pPr marL="0" indent="0">
              <a:lnSpc>
                <a:spcPts val="1600"/>
              </a:lnSpc>
              <a:buNone/>
            </a:pPr>
            <a:r>
              <a:rPr lang="en-US" sz="1250" dirty="0">
                <a:solidFill>
                  <a:srgbClr val="3A3A3A"/>
                </a:solidFill>
                <a:latin typeface="Calibri" pitchFamily="34" charset="0"/>
                <a:ea typeface="Calibri" pitchFamily="34" charset="-122"/>
                <a:cs typeface="Calibri" pitchFamily="34" charset="-120"/>
              </a:rPr>
              <a:t>Not a feed of articles. Named opportunity spaces: Vertical × Use case × Technology.</a:t>
            </a:r>
            <a:endParaRPr lang="en-US" sz="1250" dirty="0"/>
          </a:p>
        </p:txBody>
      </p:sp>
      <p:sp>
        <p:nvSpPr>
          <p:cNvPr id="13" name="Shape 11"/>
          <p:cNvSpPr/>
          <p:nvPr/>
        </p:nvSpPr>
        <p:spPr>
          <a:xfrm>
            <a:off x="713232" y="4215384"/>
            <a:ext cx="475488" cy="475488"/>
          </a:xfrm>
          <a:prstGeom prst="ellipse">
            <a:avLst/>
          </a:prstGeom>
          <a:solidFill>
            <a:srgbClr val="FF7900"/>
          </a:solidFill>
          <a:ln/>
        </p:spPr>
        <p:txBody>
          <a:bodyPr/>
          <a:lstStyle/>
          <a:p>
            <a:endParaRPr lang="en-BE"/>
          </a:p>
        </p:txBody>
      </p:sp>
      <p:sp>
        <p:nvSpPr>
          <p:cNvPr id="14" name="Text 12"/>
          <p:cNvSpPr txBox="1"/>
          <p:nvPr/>
        </p:nvSpPr>
        <p:spPr>
          <a:xfrm>
            <a:off x="713232" y="4256532"/>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389888" y="4206240"/>
            <a:ext cx="6035040" cy="292608"/>
          </a:xfrm>
          <a:prstGeom prst="rect">
            <a:avLst/>
          </a:prstGeom>
          <a:noFill/>
          <a:ln/>
        </p:spPr>
        <p:txBody>
          <a:bodyPr wrap="square" lIns="0" tIns="0" rIns="0" bIns="0" rtlCol="0" anchor="t"/>
          <a:lstStyle/>
          <a:p>
            <a:pPr marL="0" indent="0">
              <a:buNone/>
            </a:pPr>
            <a:r>
              <a:rPr lang="en-US" sz="1500" b="1" dirty="0">
                <a:solidFill>
                  <a:srgbClr val="121212"/>
                </a:solidFill>
                <a:latin typeface="Arial" pitchFamily="34" charset="0"/>
                <a:ea typeface="Arial" pitchFamily="34" charset="-122"/>
                <a:cs typeface="Arial" pitchFamily="34" charset="-120"/>
              </a:rPr>
              <a:t>Rank them</a:t>
            </a:r>
            <a:endParaRPr lang="en-US" sz="1500" dirty="0"/>
          </a:p>
        </p:txBody>
      </p:sp>
      <p:sp>
        <p:nvSpPr>
          <p:cNvPr id="16" name="Text 14"/>
          <p:cNvSpPr txBox="1"/>
          <p:nvPr/>
        </p:nvSpPr>
        <p:spPr>
          <a:xfrm>
            <a:off x="1389888" y="4535424"/>
            <a:ext cx="6035040" cy="603504"/>
          </a:xfrm>
          <a:prstGeom prst="rect">
            <a:avLst/>
          </a:prstGeom>
          <a:noFill/>
          <a:ln/>
        </p:spPr>
        <p:txBody>
          <a:bodyPr wrap="square" lIns="0" tIns="0" rIns="0" bIns="0" rtlCol="0" anchor="t"/>
          <a:lstStyle/>
          <a:p>
            <a:pPr marL="0" indent="0">
              <a:lnSpc>
                <a:spcPts val="1600"/>
              </a:lnSpc>
              <a:buNone/>
            </a:pPr>
            <a:r>
              <a:rPr lang="en-US" sz="1250" dirty="0">
                <a:solidFill>
                  <a:srgbClr val="3A3A3A"/>
                </a:solidFill>
                <a:latin typeface="Calibri" pitchFamily="34" charset="0"/>
                <a:ea typeface="Calibri" pitchFamily="34" charset="-122"/>
                <a:cs typeface="Calibri" pitchFamily="34" charset="-120"/>
              </a:rPr>
              <a:t>One score, so you argue about a shortlist of ten rather than scroll a list of six hundred.</a:t>
            </a:r>
            <a:endParaRPr lang="en-US" sz="1250" dirty="0"/>
          </a:p>
        </p:txBody>
      </p:sp>
      <p:sp>
        <p:nvSpPr>
          <p:cNvPr id="17" name="Shape 15"/>
          <p:cNvSpPr/>
          <p:nvPr/>
        </p:nvSpPr>
        <p:spPr>
          <a:xfrm>
            <a:off x="713232" y="5221224"/>
            <a:ext cx="475488" cy="475488"/>
          </a:xfrm>
          <a:prstGeom prst="ellipse">
            <a:avLst/>
          </a:prstGeom>
          <a:solidFill>
            <a:srgbClr val="FF7900"/>
          </a:solidFill>
          <a:ln/>
        </p:spPr>
        <p:txBody>
          <a:bodyPr/>
          <a:lstStyle/>
          <a:p>
            <a:endParaRPr lang="en-BE"/>
          </a:p>
        </p:txBody>
      </p:sp>
      <p:sp>
        <p:nvSpPr>
          <p:cNvPr id="18" name="Text 16"/>
          <p:cNvSpPr txBox="1"/>
          <p:nvPr/>
        </p:nvSpPr>
        <p:spPr>
          <a:xfrm>
            <a:off x="713232" y="5262372"/>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389888" y="5212080"/>
            <a:ext cx="6035040" cy="292608"/>
          </a:xfrm>
          <a:prstGeom prst="rect">
            <a:avLst/>
          </a:prstGeom>
          <a:noFill/>
          <a:ln/>
        </p:spPr>
        <p:txBody>
          <a:bodyPr wrap="square" lIns="0" tIns="0" rIns="0" bIns="0" rtlCol="0" anchor="t"/>
          <a:lstStyle/>
          <a:p>
            <a:pPr marL="0" indent="0">
              <a:buNone/>
            </a:pPr>
            <a:r>
              <a:rPr lang="en-US" sz="1500" b="1" dirty="0">
                <a:solidFill>
                  <a:srgbClr val="121212"/>
                </a:solidFill>
                <a:latin typeface="Arial" pitchFamily="34" charset="0"/>
                <a:ea typeface="Arial" pitchFamily="34" charset="-122"/>
                <a:cs typeface="Arial" pitchFamily="34" charset="-120"/>
              </a:rPr>
              <a:t>Serve three audiences</a:t>
            </a:r>
            <a:endParaRPr lang="en-US" sz="1500" dirty="0"/>
          </a:p>
        </p:txBody>
      </p:sp>
      <p:sp>
        <p:nvSpPr>
          <p:cNvPr id="20" name="Text 18"/>
          <p:cNvSpPr txBox="1"/>
          <p:nvPr/>
        </p:nvSpPr>
        <p:spPr>
          <a:xfrm>
            <a:off x="1389888" y="5541264"/>
            <a:ext cx="6035040" cy="603504"/>
          </a:xfrm>
          <a:prstGeom prst="rect">
            <a:avLst/>
          </a:prstGeom>
          <a:noFill/>
          <a:ln/>
        </p:spPr>
        <p:txBody>
          <a:bodyPr wrap="square" lIns="0" tIns="0" rIns="0" bIns="0" rtlCol="0" anchor="t"/>
          <a:lstStyle/>
          <a:p>
            <a:pPr marL="0" indent="0">
              <a:lnSpc>
                <a:spcPts val="1600"/>
              </a:lnSpc>
              <a:buNone/>
            </a:pPr>
            <a:r>
              <a:rPr lang="en-US" sz="1250" dirty="0">
                <a:solidFill>
                  <a:srgbClr val="3A3A3A"/>
                </a:solidFill>
                <a:latin typeface="Calibri" pitchFamily="34" charset="0"/>
                <a:ea typeface="Calibri" pitchFamily="34" charset="-122"/>
                <a:cs typeface="Calibri" pitchFamily="34" charset="-120"/>
              </a:rPr>
              <a:t>Strategy, sales, and presales each need a different cut of the same evidence.</a:t>
            </a:r>
            <a:endParaRPr lang="en-US" sz="1250" dirty="0"/>
          </a:p>
        </p:txBody>
      </p:sp>
      <p:sp>
        <p:nvSpPr>
          <p:cNvPr id="21" name="Text 19"/>
          <p:cNvSpPr txBox="1"/>
          <p:nvPr/>
        </p:nvSpPr>
        <p:spPr>
          <a:xfrm>
            <a:off x="7973568" y="1938528"/>
            <a:ext cx="1097280" cy="914400"/>
          </a:xfrm>
          <a:prstGeom prst="rect">
            <a:avLst/>
          </a:prstGeom>
          <a:noFill/>
          <a:ln/>
        </p:spPr>
        <p:txBody>
          <a:bodyPr wrap="square" lIns="0" tIns="0" rIns="0" bIns="0" rtlCol="0" anchor="t"/>
          <a:lstStyle/>
          <a:p>
            <a:pPr marL="0" indent="0">
              <a:buNone/>
            </a:pPr>
            <a:r>
              <a:rPr lang="en-US" sz="7200" b="1" dirty="0">
                <a:solidFill>
                  <a:srgbClr val="FF7900"/>
                </a:solidFill>
                <a:latin typeface="Arial" pitchFamily="34" charset="0"/>
                <a:ea typeface="Arial" pitchFamily="34" charset="-122"/>
                <a:cs typeface="Arial" pitchFamily="34" charset="-120"/>
              </a:rPr>
              <a:t>“</a:t>
            </a:r>
            <a:endParaRPr lang="en-US" sz="7200" dirty="0"/>
          </a:p>
        </p:txBody>
      </p:sp>
      <p:sp>
        <p:nvSpPr>
          <p:cNvPr id="22" name="Text 20"/>
          <p:cNvSpPr txBox="1"/>
          <p:nvPr/>
        </p:nvSpPr>
        <p:spPr>
          <a:xfrm>
            <a:off x="8046720" y="2743200"/>
            <a:ext cx="3429000" cy="2377440"/>
          </a:xfrm>
          <a:prstGeom prst="rect">
            <a:avLst/>
          </a:prstGeom>
          <a:noFill/>
          <a:ln/>
        </p:spPr>
        <p:txBody>
          <a:bodyPr wrap="square" lIns="0" tIns="0" rIns="0" bIns="0" rtlCol="0" anchor="t"/>
          <a:lstStyle/>
          <a:p>
            <a:pPr marL="0" indent="0">
              <a:lnSpc>
                <a:spcPts val="2000"/>
              </a:lnSpc>
              <a:buNone/>
            </a:pPr>
            <a:r>
              <a:rPr lang="en-US" sz="1400" i="1" dirty="0">
                <a:solidFill>
                  <a:srgbClr val="2B2B2B"/>
                </a:solidFill>
                <a:latin typeface="Calibri" pitchFamily="34" charset="0"/>
                <a:ea typeface="Calibri" pitchFamily="34" charset="-122"/>
                <a:cs typeface="Calibri" pitchFamily="34" charset="-120"/>
              </a:rPr>
              <a:t>Don't focus too much on the dashboard. Their perspective is more about a structured process to discover the opportunity space, and what is behind it.</a:t>
            </a:r>
            <a:endParaRPr lang="en-US" sz="1400" dirty="0"/>
          </a:p>
          <a:p>
            <a:pPr marL="0" indent="0">
              <a:lnSpc>
                <a:spcPts val="2000"/>
              </a:lnSpc>
              <a:buNone/>
            </a:pPr>
            <a:endParaRPr lang="en-US" sz="1400" dirty="0"/>
          </a:p>
          <a:p>
            <a:pPr marL="0" indent="0">
              <a:lnSpc>
                <a:spcPts val="2000"/>
              </a:lnSpc>
              <a:buNone/>
            </a:pPr>
            <a:r>
              <a:rPr lang="en-US" sz="1400" i="1" dirty="0">
                <a:solidFill>
                  <a:srgbClr val="2B2B2B"/>
                </a:solidFill>
                <a:latin typeface="Calibri" pitchFamily="34" charset="0"/>
                <a:ea typeface="Calibri" pitchFamily="34" charset="-122"/>
                <a:cs typeface="Calibri" pitchFamily="34" charset="-120"/>
              </a:rPr>
              <a:t>— client feedback, QA session</a:t>
            </a:r>
            <a:endParaRPr lang="en-US" sz="1400" dirty="0"/>
          </a:p>
        </p:txBody>
      </p:sp>
      <p:sp>
        <p:nvSpPr>
          <p:cNvPr id="23" name="Text 21"/>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IN ONE LINE</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What we built</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A shortlist you can act on, and a trail back to the evidence behind every line of it</a:t>
            </a:r>
            <a:endParaRPr lang="en-US" sz="1450" dirty="0"/>
          </a:p>
        </p:txBody>
      </p:sp>
      <p:sp>
        <p:nvSpPr>
          <p:cNvPr id="5" name="Shape 3"/>
          <p:cNvSpPr/>
          <p:nvPr/>
        </p:nvSpPr>
        <p:spPr>
          <a:xfrm>
            <a:off x="685800" y="2286000"/>
            <a:ext cx="3429000" cy="2468880"/>
          </a:xfrm>
          <a:prstGeom prst="roundRect">
            <a:avLst>
              <a:gd name="adj" fmla="val 1481"/>
            </a:avLst>
          </a:prstGeom>
          <a:solidFill>
            <a:srgbClr val="F2F2F2"/>
          </a:solidFill>
          <a:ln w="9525">
            <a:solidFill>
              <a:srgbClr val="DDDDDD"/>
            </a:solidFill>
            <a:prstDash val="solid"/>
          </a:ln>
        </p:spPr>
        <p:txBody>
          <a:bodyPr/>
          <a:lstStyle/>
          <a:p>
            <a:endParaRPr lang="en-BE"/>
          </a:p>
        </p:txBody>
      </p:sp>
      <p:sp>
        <p:nvSpPr>
          <p:cNvPr id="6" name="Text 4"/>
          <p:cNvSpPr txBox="1"/>
          <p:nvPr/>
        </p:nvSpPr>
        <p:spPr>
          <a:xfrm>
            <a:off x="1005840" y="2560320"/>
            <a:ext cx="2788920" cy="822960"/>
          </a:xfrm>
          <a:prstGeom prst="rect">
            <a:avLst/>
          </a:prstGeom>
          <a:noFill/>
          <a:ln/>
        </p:spPr>
        <p:txBody>
          <a:bodyPr wrap="square" lIns="0" tIns="0" rIns="0" bIns="0" rtlCol="0" anchor="ctr"/>
          <a:lstStyle/>
          <a:p>
            <a:pPr marL="0" indent="0">
              <a:buNone/>
            </a:pPr>
            <a:r>
              <a:rPr lang="en-US" sz="4600" b="1" kern="0" spc="-150" dirty="0">
                <a:solidFill>
                  <a:srgbClr val="FF7900"/>
                </a:solidFill>
                <a:latin typeface="Arial" pitchFamily="34" charset="0"/>
                <a:ea typeface="Arial" pitchFamily="34" charset="-122"/>
                <a:cs typeface="Arial" pitchFamily="34" charset="-120"/>
              </a:rPr>
              <a:t>750</a:t>
            </a:r>
            <a:endParaRPr lang="en-US" sz="4600" dirty="0"/>
          </a:p>
        </p:txBody>
      </p:sp>
      <p:sp>
        <p:nvSpPr>
          <p:cNvPr id="7" name="Text 5"/>
          <p:cNvSpPr txBox="1"/>
          <p:nvPr/>
        </p:nvSpPr>
        <p:spPr>
          <a:xfrm>
            <a:off x="1005840" y="3401568"/>
            <a:ext cx="2788920" cy="292608"/>
          </a:xfrm>
          <a:prstGeom prst="rect">
            <a:avLst/>
          </a:prstGeom>
          <a:noFill/>
          <a:ln/>
        </p:spPr>
        <p:txBody>
          <a:bodyPr wrap="square" lIns="0" tIns="0" rIns="0" bIns="0" rtlCol="0" anchor="ctr"/>
          <a:lstStyle/>
          <a:p>
            <a:pPr marL="0" indent="0">
              <a:buNone/>
            </a:pPr>
            <a:r>
              <a:rPr lang="en-US" sz="1400" b="1" dirty="0">
                <a:solidFill>
                  <a:srgbClr val="121212"/>
                </a:solidFill>
                <a:latin typeface="Arial" pitchFamily="34" charset="0"/>
                <a:ea typeface="Arial" pitchFamily="34" charset="-122"/>
                <a:cs typeface="Arial" pitchFamily="34" charset="-120"/>
              </a:rPr>
              <a:t>signals scanned</a:t>
            </a:r>
            <a:endParaRPr lang="en-US" sz="1400" dirty="0"/>
          </a:p>
        </p:txBody>
      </p:sp>
      <p:sp>
        <p:nvSpPr>
          <p:cNvPr id="8" name="Text 6"/>
          <p:cNvSpPr txBox="1"/>
          <p:nvPr/>
        </p:nvSpPr>
        <p:spPr>
          <a:xfrm>
            <a:off x="1005840" y="3767328"/>
            <a:ext cx="2788920" cy="777240"/>
          </a:xfrm>
          <a:prstGeom prst="rect">
            <a:avLst/>
          </a:prstGeom>
          <a:noFill/>
          <a:ln/>
        </p:spPr>
        <p:txBody>
          <a:bodyPr wrap="square" lIns="0" tIns="0" rIns="0" bIns="0" rtlCol="0" anchor="ctr"/>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from 440 publications across 20 countries</a:t>
            </a:r>
            <a:endParaRPr lang="en-US" sz="1200" dirty="0"/>
          </a:p>
        </p:txBody>
      </p:sp>
      <p:sp>
        <p:nvSpPr>
          <p:cNvPr id="9" name="Shape 7"/>
          <p:cNvSpPr/>
          <p:nvPr/>
        </p:nvSpPr>
        <p:spPr>
          <a:xfrm>
            <a:off x="4480560" y="2286000"/>
            <a:ext cx="3429000" cy="2468880"/>
          </a:xfrm>
          <a:prstGeom prst="roundRect">
            <a:avLst>
              <a:gd name="adj" fmla="val 1481"/>
            </a:avLst>
          </a:prstGeom>
          <a:solidFill>
            <a:srgbClr val="F2F2F2"/>
          </a:solidFill>
          <a:ln w="9525">
            <a:solidFill>
              <a:srgbClr val="DDDDDD"/>
            </a:solidFill>
            <a:prstDash val="solid"/>
          </a:ln>
        </p:spPr>
        <p:txBody>
          <a:bodyPr/>
          <a:lstStyle/>
          <a:p>
            <a:endParaRPr lang="en-BE"/>
          </a:p>
        </p:txBody>
      </p:sp>
      <p:sp>
        <p:nvSpPr>
          <p:cNvPr id="10" name="Text 8"/>
          <p:cNvSpPr txBox="1"/>
          <p:nvPr/>
        </p:nvSpPr>
        <p:spPr>
          <a:xfrm>
            <a:off x="4800600" y="2560320"/>
            <a:ext cx="2788920" cy="822960"/>
          </a:xfrm>
          <a:prstGeom prst="rect">
            <a:avLst/>
          </a:prstGeom>
          <a:noFill/>
          <a:ln/>
        </p:spPr>
        <p:txBody>
          <a:bodyPr wrap="square" lIns="0" tIns="0" rIns="0" bIns="0" rtlCol="0" anchor="ctr"/>
          <a:lstStyle/>
          <a:p>
            <a:pPr marL="0" indent="0">
              <a:buNone/>
            </a:pPr>
            <a:r>
              <a:rPr lang="en-US" sz="4600" b="1" kern="0" spc="-150" dirty="0">
                <a:solidFill>
                  <a:srgbClr val="2A78D6"/>
                </a:solidFill>
                <a:latin typeface="Arial" pitchFamily="34" charset="0"/>
                <a:cs typeface="Arial" pitchFamily="34" charset="-120"/>
              </a:rPr>
              <a:t>30</a:t>
            </a:r>
            <a:endParaRPr lang="en-US" sz="4600" dirty="0"/>
          </a:p>
        </p:txBody>
      </p:sp>
      <p:sp>
        <p:nvSpPr>
          <p:cNvPr id="11" name="Text 9"/>
          <p:cNvSpPr txBox="1"/>
          <p:nvPr/>
        </p:nvSpPr>
        <p:spPr>
          <a:xfrm>
            <a:off x="4800600" y="3401568"/>
            <a:ext cx="2788920" cy="292608"/>
          </a:xfrm>
          <a:prstGeom prst="rect">
            <a:avLst/>
          </a:prstGeom>
          <a:noFill/>
          <a:ln/>
        </p:spPr>
        <p:txBody>
          <a:bodyPr wrap="square" lIns="0" tIns="0" rIns="0" bIns="0" rtlCol="0" anchor="ctr"/>
          <a:lstStyle/>
          <a:p>
            <a:pPr marL="0" indent="0">
              <a:buNone/>
            </a:pPr>
            <a:r>
              <a:rPr lang="en-US" sz="1400" b="1" dirty="0">
                <a:solidFill>
                  <a:srgbClr val="121212"/>
                </a:solidFill>
                <a:latin typeface="Arial" pitchFamily="34" charset="0"/>
                <a:ea typeface="Arial" pitchFamily="34" charset="-122"/>
                <a:cs typeface="Arial" pitchFamily="34" charset="-120"/>
              </a:rPr>
              <a:t>opportunity spaces</a:t>
            </a:r>
            <a:endParaRPr lang="en-US" sz="1400" dirty="0"/>
          </a:p>
        </p:txBody>
      </p:sp>
      <p:sp>
        <p:nvSpPr>
          <p:cNvPr id="12" name="Text 10"/>
          <p:cNvSpPr txBox="1"/>
          <p:nvPr/>
        </p:nvSpPr>
        <p:spPr>
          <a:xfrm>
            <a:off x="4800600" y="3767328"/>
            <a:ext cx="2788920" cy="777240"/>
          </a:xfrm>
          <a:prstGeom prst="rect">
            <a:avLst/>
          </a:prstGeom>
          <a:noFill/>
          <a:ln/>
        </p:spPr>
        <p:txBody>
          <a:bodyPr wrap="square" lIns="0" tIns="0" rIns="0" bIns="0" rtlCol="0" anchor="ctr"/>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each one backed by three or more independent sources that agree</a:t>
            </a:r>
            <a:endParaRPr lang="en-US" sz="1200" dirty="0"/>
          </a:p>
        </p:txBody>
      </p:sp>
      <p:sp>
        <p:nvSpPr>
          <p:cNvPr id="13" name="Shape 11"/>
          <p:cNvSpPr/>
          <p:nvPr/>
        </p:nvSpPr>
        <p:spPr>
          <a:xfrm>
            <a:off x="8275320" y="2286000"/>
            <a:ext cx="3429000" cy="2468880"/>
          </a:xfrm>
          <a:prstGeom prst="roundRect">
            <a:avLst>
              <a:gd name="adj" fmla="val 1481"/>
            </a:avLst>
          </a:prstGeom>
          <a:solidFill>
            <a:srgbClr val="F2F2F2"/>
          </a:solidFill>
          <a:ln w="9525">
            <a:solidFill>
              <a:srgbClr val="DDDDDD"/>
            </a:solidFill>
            <a:prstDash val="solid"/>
          </a:ln>
        </p:spPr>
        <p:txBody>
          <a:bodyPr/>
          <a:lstStyle/>
          <a:p>
            <a:endParaRPr lang="en-BE"/>
          </a:p>
        </p:txBody>
      </p:sp>
      <p:sp>
        <p:nvSpPr>
          <p:cNvPr id="14" name="Text 12"/>
          <p:cNvSpPr txBox="1"/>
          <p:nvPr/>
        </p:nvSpPr>
        <p:spPr>
          <a:xfrm>
            <a:off x="8595360" y="2560320"/>
            <a:ext cx="2788920" cy="822960"/>
          </a:xfrm>
          <a:prstGeom prst="rect">
            <a:avLst/>
          </a:prstGeom>
          <a:noFill/>
          <a:ln/>
        </p:spPr>
        <p:txBody>
          <a:bodyPr wrap="square" lIns="0" tIns="0" rIns="0" bIns="0" rtlCol="0" anchor="ctr"/>
          <a:lstStyle/>
          <a:p>
            <a:pPr marL="0" indent="0">
              <a:buNone/>
            </a:pPr>
            <a:r>
              <a:rPr lang="en-US" sz="4600" b="1" kern="0" spc="-150" dirty="0">
                <a:solidFill>
                  <a:srgbClr val="4A3AA7"/>
                </a:solidFill>
                <a:latin typeface="Arial" pitchFamily="34" charset="0"/>
                <a:ea typeface="Arial" pitchFamily="34" charset="-122"/>
                <a:cs typeface="Arial" pitchFamily="34" charset="-120"/>
              </a:rPr>
              <a:t>100%</a:t>
            </a:r>
            <a:endParaRPr lang="en-US" sz="4600" dirty="0"/>
          </a:p>
        </p:txBody>
      </p:sp>
      <p:sp>
        <p:nvSpPr>
          <p:cNvPr id="15" name="Text 13"/>
          <p:cNvSpPr txBox="1"/>
          <p:nvPr/>
        </p:nvSpPr>
        <p:spPr>
          <a:xfrm>
            <a:off x="8595360" y="3401568"/>
            <a:ext cx="2788920" cy="292608"/>
          </a:xfrm>
          <a:prstGeom prst="rect">
            <a:avLst/>
          </a:prstGeom>
          <a:noFill/>
          <a:ln/>
        </p:spPr>
        <p:txBody>
          <a:bodyPr wrap="square" lIns="0" tIns="0" rIns="0" bIns="0" rtlCol="0" anchor="ctr"/>
          <a:lstStyle/>
          <a:p>
            <a:pPr marL="0" indent="0">
              <a:buNone/>
            </a:pPr>
            <a:r>
              <a:rPr lang="en-US" sz="1400" b="1" dirty="0">
                <a:solidFill>
                  <a:srgbClr val="121212"/>
                </a:solidFill>
                <a:latin typeface="Arial" pitchFamily="34" charset="0"/>
                <a:ea typeface="Arial" pitchFamily="34" charset="-122"/>
                <a:cs typeface="Arial" pitchFamily="34" charset="-120"/>
              </a:rPr>
              <a:t>traceable</a:t>
            </a:r>
            <a:endParaRPr lang="en-US" sz="1400" dirty="0"/>
          </a:p>
        </p:txBody>
      </p:sp>
      <p:sp>
        <p:nvSpPr>
          <p:cNvPr id="16" name="Text 14"/>
          <p:cNvSpPr txBox="1"/>
          <p:nvPr/>
        </p:nvSpPr>
        <p:spPr>
          <a:xfrm>
            <a:off x="8595360" y="3767328"/>
            <a:ext cx="2788920" cy="777240"/>
          </a:xfrm>
          <a:prstGeom prst="rect">
            <a:avLst/>
          </a:prstGeom>
          <a:noFill/>
          <a:ln/>
        </p:spPr>
        <p:txBody>
          <a:bodyPr wrap="square" lIns="0" tIns="0" rIns="0" bIns="0" rtlCol="0" anchor="ctr"/>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every score walks back to the exact articles it was built from</a:t>
            </a:r>
            <a:endParaRPr lang="en-US" sz="1200" dirty="0"/>
          </a:p>
        </p:txBody>
      </p:sp>
      <p:sp>
        <p:nvSpPr>
          <p:cNvPr id="17" name="Text 15"/>
          <p:cNvSpPr txBox="1"/>
          <p:nvPr/>
        </p:nvSpPr>
        <p:spPr>
          <a:xfrm>
            <a:off x="685800" y="5074920"/>
            <a:ext cx="10789920" cy="457200"/>
          </a:xfrm>
          <a:prstGeom prst="rect">
            <a:avLst/>
          </a:prstGeom>
          <a:noFill/>
          <a:ln/>
        </p:spPr>
        <p:txBody>
          <a:bodyPr wrap="square" lIns="0" tIns="0" rIns="0" bIns="0" rtlCol="0" anchor="ctr"/>
          <a:lstStyle/>
          <a:p>
            <a:pPr marL="0" indent="0">
              <a:buNone/>
            </a:pPr>
            <a:r>
              <a:rPr lang="en-US" sz="1400" i="1" dirty="0">
                <a:solidFill>
                  <a:srgbClr val="2B2B2B"/>
                </a:solidFill>
                <a:latin typeface="Calibri" pitchFamily="34" charset="0"/>
                <a:ea typeface="Calibri" pitchFamily="34" charset="-122"/>
                <a:cs typeface="Calibri" pitchFamily="34" charset="-120"/>
              </a:rPr>
              <a:t>Nothing on this radar is an opinion with a number attached. Every position and every score is built from named, dated, checkable sources.</a:t>
            </a:r>
            <a:endParaRPr lang="en-US" sz="1400" dirty="0"/>
          </a:p>
        </p:txBody>
      </p:sp>
      <p:sp>
        <p:nvSpPr>
          <p:cNvPr id="18" name="Text 16"/>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THE PROCESS</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From an article to an opportunity</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Six stages. Only the first one searches on its own — everything after it follows fixed rules, the same way every time</a:t>
            </a:r>
            <a:endParaRPr lang="en-US" sz="1450" dirty="0"/>
          </a:p>
        </p:txBody>
      </p:sp>
      <p:sp>
        <p:nvSpPr>
          <p:cNvPr id="5" name="Shape 3"/>
          <p:cNvSpPr/>
          <p:nvPr/>
        </p:nvSpPr>
        <p:spPr>
          <a:xfrm>
            <a:off x="685800" y="2194560"/>
            <a:ext cx="3429000" cy="1572768"/>
          </a:xfrm>
          <a:prstGeom prst="roundRect">
            <a:avLst>
              <a:gd name="adj" fmla="val 2326"/>
            </a:avLst>
          </a:prstGeom>
          <a:solidFill>
            <a:srgbClr val="FFF1E4"/>
          </a:solidFill>
          <a:ln w="9525">
            <a:solidFill>
              <a:srgbClr val="DDDDDD"/>
            </a:solidFill>
            <a:prstDash val="solid"/>
          </a:ln>
        </p:spPr>
        <p:txBody>
          <a:bodyPr/>
          <a:lstStyle/>
          <a:p>
            <a:endParaRPr lang="en-BE"/>
          </a:p>
        </p:txBody>
      </p:sp>
      <p:sp>
        <p:nvSpPr>
          <p:cNvPr id="6" name="Shape 4"/>
          <p:cNvSpPr/>
          <p:nvPr/>
        </p:nvSpPr>
        <p:spPr>
          <a:xfrm>
            <a:off x="923544" y="2414016"/>
            <a:ext cx="475488" cy="475488"/>
          </a:xfrm>
          <a:prstGeom prst="ellipse">
            <a:avLst/>
          </a:prstGeom>
          <a:solidFill>
            <a:srgbClr val="FF7900"/>
          </a:solidFill>
          <a:ln/>
        </p:spPr>
        <p:txBody>
          <a:bodyPr/>
          <a:lstStyle/>
          <a:p>
            <a:endParaRPr lang="en-BE"/>
          </a:p>
        </p:txBody>
      </p:sp>
      <p:sp>
        <p:nvSpPr>
          <p:cNvPr id="7" name="Text 5"/>
          <p:cNvSpPr txBox="1"/>
          <p:nvPr/>
        </p:nvSpPr>
        <p:spPr>
          <a:xfrm>
            <a:off x="923544" y="2455164"/>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527048" y="2468880"/>
            <a:ext cx="2377440" cy="329184"/>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Watch</a:t>
            </a:r>
            <a:endParaRPr lang="en-US" sz="1600" dirty="0"/>
          </a:p>
        </p:txBody>
      </p:sp>
      <p:sp>
        <p:nvSpPr>
          <p:cNvPr id="9" name="Text 7"/>
          <p:cNvSpPr txBox="1"/>
          <p:nvPr/>
        </p:nvSpPr>
        <p:spPr>
          <a:xfrm>
            <a:off x="923544" y="2962656"/>
            <a:ext cx="2953512" cy="713232"/>
          </a:xfrm>
          <a:prstGeom prst="rect">
            <a:avLst/>
          </a:prstGeom>
          <a:noFill/>
          <a:ln/>
        </p:spPr>
        <p:txBody>
          <a:bodyPr wrap="square" lIns="0" tIns="0" rIns="0" bIns="0" rtlCol="0" anchor="t"/>
          <a:lstStyle/>
          <a:p>
            <a:pPr marL="0" indent="0">
              <a:lnSpc>
                <a:spcPts val="1500"/>
              </a:lnSpc>
              <a:buNone/>
            </a:pPr>
            <a:r>
              <a:rPr lang="en-US" sz="1150" dirty="0">
                <a:solidFill>
                  <a:srgbClr val="3A3A3A"/>
                </a:solidFill>
                <a:latin typeface="Calibri" pitchFamily="34" charset="0"/>
                <a:ea typeface="Calibri" pitchFamily="34" charset="-122"/>
                <a:cs typeface="Calibri" pitchFamily="34" charset="-120"/>
              </a:rPr>
              <a:t>Scans independent press, regulators and competitor announcements. Never an Orange-owned source.</a:t>
            </a:r>
            <a:endParaRPr lang="en-US" sz="1150" dirty="0"/>
          </a:p>
        </p:txBody>
      </p:sp>
      <p:sp>
        <p:nvSpPr>
          <p:cNvPr id="10" name="Shape 8"/>
          <p:cNvSpPr/>
          <p:nvPr/>
        </p:nvSpPr>
        <p:spPr>
          <a:xfrm>
            <a:off x="4379976" y="2194560"/>
            <a:ext cx="3429000" cy="1572768"/>
          </a:xfrm>
          <a:prstGeom prst="roundRect">
            <a:avLst>
              <a:gd name="adj" fmla="val 2326"/>
            </a:avLst>
          </a:prstGeom>
          <a:solidFill>
            <a:srgbClr val="F2F2F2"/>
          </a:solidFill>
          <a:ln w="9525">
            <a:solidFill>
              <a:srgbClr val="DDDDDD"/>
            </a:solidFill>
            <a:prstDash val="solid"/>
          </a:ln>
        </p:spPr>
        <p:txBody>
          <a:bodyPr/>
          <a:lstStyle/>
          <a:p>
            <a:endParaRPr lang="en-BE"/>
          </a:p>
        </p:txBody>
      </p:sp>
      <p:sp>
        <p:nvSpPr>
          <p:cNvPr id="11" name="Shape 9"/>
          <p:cNvSpPr/>
          <p:nvPr/>
        </p:nvSpPr>
        <p:spPr>
          <a:xfrm>
            <a:off x="4617720" y="2414016"/>
            <a:ext cx="475488" cy="475488"/>
          </a:xfrm>
          <a:prstGeom prst="ellipse">
            <a:avLst/>
          </a:prstGeom>
          <a:solidFill>
            <a:srgbClr val="3A3A3A"/>
          </a:solidFill>
          <a:ln/>
        </p:spPr>
        <p:txBody>
          <a:bodyPr/>
          <a:lstStyle/>
          <a:p>
            <a:endParaRPr lang="en-BE"/>
          </a:p>
        </p:txBody>
      </p:sp>
      <p:sp>
        <p:nvSpPr>
          <p:cNvPr id="12" name="Text 10"/>
          <p:cNvSpPr txBox="1"/>
          <p:nvPr/>
        </p:nvSpPr>
        <p:spPr>
          <a:xfrm>
            <a:off x="4617720" y="2455164"/>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5221224" y="2468880"/>
            <a:ext cx="2377440" cy="329184"/>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Record</a:t>
            </a:r>
            <a:endParaRPr lang="en-US" sz="1600" dirty="0"/>
          </a:p>
        </p:txBody>
      </p:sp>
      <p:sp>
        <p:nvSpPr>
          <p:cNvPr id="14" name="Text 12"/>
          <p:cNvSpPr txBox="1"/>
          <p:nvPr/>
        </p:nvSpPr>
        <p:spPr>
          <a:xfrm>
            <a:off x="4617720" y="2962656"/>
            <a:ext cx="2953512" cy="713232"/>
          </a:xfrm>
          <a:prstGeom prst="rect">
            <a:avLst/>
          </a:prstGeom>
          <a:noFill/>
          <a:ln/>
        </p:spPr>
        <p:txBody>
          <a:bodyPr wrap="square" lIns="0" tIns="0" rIns="0" bIns="0" rtlCol="0" anchor="t"/>
          <a:lstStyle/>
          <a:p>
            <a:pPr marL="0" indent="0">
              <a:lnSpc>
                <a:spcPts val="1500"/>
              </a:lnSpc>
              <a:buNone/>
            </a:pPr>
            <a:r>
              <a:rPr lang="en-US" sz="1150" dirty="0">
                <a:solidFill>
                  <a:srgbClr val="3A3A3A"/>
                </a:solidFill>
                <a:latin typeface="Calibri" pitchFamily="34" charset="0"/>
                <a:ea typeface="Calibri" pitchFamily="34" charset="-122"/>
                <a:cs typeface="Calibri" pitchFamily="34" charset="-120"/>
              </a:rPr>
              <a:t>Every article kept with its publisher, date, market and a summary. Nothing is discarded.</a:t>
            </a:r>
            <a:endParaRPr lang="en-US" sz="1150" dirty="0"/>
          </a:p>
        </p:txBody>
      </p:sp>
      <p:sp>
        <p:nvSpPr>
          <p:cNvPr id="15" name="Shape 13"/>
          <p:cNvSpPr/>
          <p:nvPr/>
        </p:nvSpPr>
        <p:spPr>
          <a:xfrm>
            <a:off x="8074152" y="2194560"/>
            <a:ext cx="3429000" cy="1572768"/>
          </a:xfrm>
          <a:prstGeom prst="roundRect">
            <a:avLst>
              <a:gd name="adj" fmla="val 2326"/>
            </a:avLst>
          </a:prstGeom>
          <a:solidFill>
            <a:srgbClr val="F2F2F2"/>
          </a:solidFill>
          <a:ln w="9525">
            <a:solidFill>
              <a:srgbClr val="DDDDDD"/>
            </a:solidFill>
            <a:prstDash val="solid"/>
          </a:ln>
        </p:spPr>
        <p:txBody>
          <a:bodyPr/>
          <a:lstStyle/>
          <a:p>
            <a:endParaRPr lang="en-BE"/>
          </a:p>
        </p:txBody>
      </p:sp>
      <p:sp>
        <p:nvSpPr>
          <p:cNvPr id="16" name="Shape 14"/>
          <p:cNvSpPr/>
          <p:nvPr/>
        </p:nvSpPr>
        <p:spPr>
          <a:xfrm>
            <a:off x="8311896" y="2414016"/>
            <a:ext cx="475488" cy="475488"/>
          </a:xfrm>
          <a:prstGeom prst="ellipse">
            <a:avLst/>
          </a:prstGeom>
          <a:solidFill>
            <a:srgbClr val="2A78D6"/>
          </a:solidFill>
          <a:ln/>
        </p:spPr>
        <p:txBody>
          <a:bodyPr/>
          <a:lstStyle/>
          <a:p>
            <a:endParaRPr lang="en-BE"/>
          </a:p>
        </p:txBody>
      </p:sp>
      <p:sp>
        <p:nvSpPr>
          <p:cNvPr id="17" name="Text 15"/>
          <p:cNvSpPr txBox="1"/>
          <p:nvPr/>
        </p:nvSpPr>
        <p:spPr>
          <a:xfrm>
            <a:off x="8311896" y="2455164"/>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8915400" y="2468880"/>
            <a:ext cx="2377440" cy="329184"/>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Group</a:t>
            </a:r>
            <a:endParaRPr lang="en-US" sz="1600" dirty="0"/>
          </a:p>
        </p:txBody>
      </p:sp>
      <p:sp>
        <p:nvSpPr>
          <p:cNvPr id="19" name="Text 17"/>
          <p:cNvSpPr txBox="1"/>
          <p:nvPr/>
        </p:nvSpPr>
        <p:spPr>
          <a:xfrm>
            <a:off x="8311896" y="2962656"/>
            <a:ext cx="2953512" cy="713232"/>
          </a:xfrm>
          <a:prstGeom prst="rect">
            <a:avLst/>
          </a:prstGeom>
          <a:noFill/>
          <a:ln/>
        </p:spPr>
        <p:txBody>
          <a:bodyPr wrap="square" lIns="0" tIns="0" rIns="0" bIns="0" rtlCol="0" anchor="t"/>
          <a:lstStyle/>
          <a:p>
            <a:pPr marL="0" indent="0">
              <a:lnSpc>
                <a:spcPts val="1500"/>
              </a:lnSpc>
              <a:buNone/>
            </a:pPr>
            <a:r>
              <a:rPr lang="en-US" sz="1150" dirty="0">
                <a:solidFill>
                  <a:srgbClr val="3A3A3A"/>
                </a:solidFill>
                <a:latin typeface="Calibri" pitchFamily="34" charset="0"/>
                <a:ea typeface="Calibri" pitchFamily="34" charset="-122"/>
                <a:cs typeface="Calibri" pitchFamily="34" charset="-120"/>
              </a:rPr>
              <a:t>Articles about the same underlying story are grouped by meaning, not by matching keywords.</a:t>
            </a:r>
            <a:endParaRPr lang="en-US" sz="1150" dirty="0"/>
          </a:p>
        </p:txBody>
      </p:sp>
      <p:sp>
        <p:nvSpPr>
          <p:cNvPr id="20" name="Shape 18"/>
          <p:cNvSpPr/>
          <p:nvPr/>
        </p:nvSpPr>
        <p:spPr>
          <a:xfrm>
            <a:off x="685800" y="4096512"/>
            <a:ext cx="3429000" cy="1572768"/>
          </a:xfrm>
          <a:prstGeom prst="roundRect">
            <a:avLst>
              <a:gd name="adj" fmla="val 2326"/>
            </a:avLst>
          </a:prstGeom>
          <a:solidFill>
            <a:srgbClr val="F2F2F2"/>
          </a:solidFill>
          <a:ln w="9525">
            <a:solidFill>
              <a:srgbClr val="DDDDDD"/>
            </a:solidFill>
            <a:prstDash val="solid"/>
          </a:ln>
        </p:spPr>
        <p:txBody>
          <a:bodyPr/>
          <a:lstStyle/>
          <a:p>
            <a:endParaRPr lang="en-BE"/>
          </a:p>
        </p:txBody>
      </p:sp>
      <p:sp>
        <p:nvSpPr>
          <p:cNvPr id="21" name="Shape 19"/>
          <p:cNvSpPr/>
          <p:nvPr/>
        </p:nvSpPr>
        <p:spPr>
          <a:xfrm>
            <a:off x="923544" y="4315968"/>
            <a:ext cx="475488" cy="475488"/>
          </a:xfrm>
          <a:prstGeom prst="ellipse">
            <a:avLst/>
          </a:prstGeom>
          <a:solidFill>
            <a:srgbClr val="4A3AA7"/>
          </a:solidFill>
          <a:ln/>
        </p:spPr>
        <p:txBody>
          <a:bodyPr/>
          <a:lstStyle/>
          <a:p>
            <a:endParaRPr lang="en-BE"/>
          </a:p>
        </p:txBody>
      </p:sp>
      <p:sp>
        <p:nvSpPr>
          <p:cNvPr id="22" name="Text 20"/>
          <p:cNvSpPr txBox="1"/>
          <p:nvPr/>
        </p:nvSpPr>
        <p:spPr>
          <a:xfrm>
            <a:off x="923544" y="435711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1527048" y="4370832"/>
            <a:ext cx="2377440" cy="329184"/>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Filter</a:t>
            </a:r>
            <a:endParaRPr lang="en-US" sz="1600" dirty="0"/>
          </a:p>
        </p:txBody>
      </p:sp>
      <p:sp>
        <p:nvSpPr>
          <p:cNvPr id="24" name="Text 22"/>
          <p:cNvSpPr txBox="1"/>
          <p:nvPr/>
        </p:nvSpPr>
        <p:spPr>
          <a:xfrm>
            <a:off x="923544" y="4864608"/>
            <a:ext cx="2953512" cy="713232"/>
          </a:xfrm>
          <a:prstGeom prst="rect">
            <a:avLst/>
          </a:prstGeom>
          <a:noFill/>
          <a:ln/>
        </p:spPr>
        <p:txBody>
          <a:bodyPr wrap="square" lIns="0" tIns="0" rIns="0" bIns="0" rtlCol="0" anchor="t"/>
          <a:lstStyle/>
          <a:p>
            <a:pPr marL="0" indent="0">
              <a:lnSpc>
                <a:spcPts val="1500"/>
              </a:lnSpc>
              <a:buNone/>
            </a:pPr>
            <a:r>
              <a:rPr lang="en-US" sz="1150" dirty="0">
                <a:solidFill>
                  <a:srgbClr val="3A3A3A"/>
                </a:solidFill>
                <a:latin typeface="Calibri" pitchFamily="34" charset="0"/>
                <a:ea typeface="Calibri" pitchFamily="34" charset="-122"/>
                <a:cs typeface="Calibri" pitchFamily="34" charset="-120"/>
              </a:rPr>
              <a:t>Checked against what Orange already sells, in the markets Orange already covers.</a:t>
            </a:r>
            <a:endParaRPr lang="en-US" sz="1150" dirty="0"/>
          </a:p>
        </p:txBody>
      </p:sp>
      <p:sp>
        <p:nvSpPr>
          <p:cNvPr id="25" name="Shape 23"/>
          <p:cNvSpPr/>
          <p:nvPr/>
        </p:nvSpPr>
        <p:spPr>
          <a:xfrm>
            <a:off x="4379976" y="4096512"/>
            <a:ext cx="3429000" cy="1572768"/>
          </a:xfrm>
          <a:prstGeom prst="roundRect">
            <a:avLst>
              <a:gd name="adj" fmla="val 2326"/>
            </a:avLst>
          </a:prstGeom>
          <a:solidFill>
            <a:srgbClr val="F2F2F2"/>
          </a:solidFill>
          <a:ln w="9525">
            <a:solidFill>
              <a:srgbClr val="DDDDDD"/>
            </a:solidFill>
            <a:prstDash val="solid"/>
          </a:ln>
        </p:spPr>
        <p:txBody>
          <a:bodyPr/>
          <a:lstStyle/>
          <a:p>
            <a:endParaRPr lang="en-BE"/>
          </a:p>
        </p:txBody>
      </p:sp>
      <p:sp>
        <p:nvSpPr>
          <p:cNvPr id="26" name="Shape 24"/>
          <p:cNvSpPr/>
          <p:nvPr/>
        </p:nvSpPr>
        <p:spPr>
          <a:xfrm>
            <a:off x="4617720" y="4315968"/>
            <a:ext cx="475488" cy="475488"/>
          </a:xfrm>
          <a:prstGeom prst="ellipse">
            <a:avLst/>
          </a:prstGeom>
          <a:solidFill>
            <a:srgbClr val="1BAF7A"/>
          </a:solidFill>
          <a:ln/>
        </p:spPr>
        <p:txBody>
          <a:bodyPr/>
          <a:lstStyle/>
          <a:p>
            <a:endParaRPr lang="en-BE"/>
          </a:p>
        </p:txBody>
      </p:sp>
      <p:sp>
        <p:nvSpPr>
          <p:cNvPr id="27" name="Text 25"/>
          <p:cNvSpPr txBox="1"/>
          <p:nvPr/>
        </p:nvSpPr>
        <p:spPr>
          <a:xfrm>
            <a:off x="4617720" y="435711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txBox="1"/>
          <p:nvPr/>
        </p:nvSpPr>
        <p:spPr>
          <a:xfrm>
            <a:off x="5221224" y="4370832"/>
            <a:ext cx="2377440" cy="329184"/>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Score</a:t>
            </a:r>
            <a:endParaRPr lang="en-US" sz="1600" dirty="0"/>
          </a:p>
        </p:txBody>
      </p:sp>
      <p:sp>
        <p:nvSpPr>
          <p:cNvPr id="29" name="Text 27"/>
          <p:cNvSpPr txBox="1"/>
          <p:nvPr/>
        </p:nvSpPr>
        <p:spPr>
          <a:xfrm>
            <a:off x="4617720" y="4864608"/>
            <a:ext cx="2953512" cy="713232"/>
          </a:xfrm>
          <a:prstGeom prst="rect">
            <a:avLst/>
          </a:prstGeom>
          <a:noFill/>
          <a:ln/>
        </p:spPr>
        <p:txBody>
          <a:bodyPr wrap="square" lIns="0" tIns="0" rIns="0" bIns="0" rtlCol="0" anchor="t"/>
          <a:lstStyle/>
          <a:p>
            <a:pPr marL="0" indent="0">
              <a:lnSpc>
                <a:spcPts val="1500"/>
              </a:lnSpc>
              <a:buNone/>
            </a:pPr>
            <a:r>
              <a:rPr lang="en-US" sz="1150" dirty="0">
                <a:solidFill>
                  <a:srgbClr val="3A3A3A"/>
                </a:solidFill>
                <a:latin typeface="Calibri" pitchFamily="34" charset="0"/>
                <a:ea typeface="Calibri" pitchFamily="34" charset="-122"/>
                <a:cs typeface="Calibri" pitchFamily="34" charset="-120"/>
              </a:rPr>
              <a:t>Five factors — four measured from the evidence, one judged — combined into one number.</a:t>
            </a:r>
            <a:endParaRPr lang="en-US" sz="1150" dirty="0"/>
          </a:p>
        </p:txBody>
      </p:sp>
      <p:sp>
        <p:nvSpPr>
          <p:cNvPr id="30" name="Shape 28"/>
          <p:cNvSpPr/>
          <p:nvPr/>
        </p:nvSpPr>
        <p:spPr>
          <a:xfrm>
            <a:off x="8074152" y="4096512"/>
            <a:ext cx="3429000" cy="1572768"/>
          </a:xfrm>
          <a:prstGeom prst="roundRect">
            <a:avLst>
              <a:gd name="adj" fmla="val 2326"/>
            </a:avLst>
          </a:prstGeom>
          <a:solidFill>
            <a:srgbClr val="F2F2F2"/>
          </a:solidFill>
          <a:ln w="9525">
            <a:solidFill>
              <a:srgbClr val="DDDDDD"/>
            </a:solidFill>
            <a:prstDash val="solid"/>
          </a:ln>
        </p:spPr>
        <p:txBody>
          <a:bodyPr/>
          <a:lstStyle/>
          <a:p>
            <a:endParaRPr lang="en-BE"/>
          </a:p>
        </p:txBody>
      </p:sp>
      <p:sp>
        <p:nvSpPr>
          <p:cNvPr id="31" name="Shape 29"/>
          <p:cNvSpPr/>
          <p:nvPr/>
        </p:nvSpPr>
        <p:spPr>
          <a:xfrm>
            <a:off x="8311896" y="4315968"/>
            <a:ext cx="475488" cy="475488"/>
          </a:xfrm>
          <a:prstGeom prst="ellipse">
            <a:avLst/>
          </a:prstGeom>
          <a:solidFill>
            <a:srgbClr val="3A3A3A"/>
          </a:solidFill>
          <a:ln/>
        </p:spPr>
        <p:txBody>
          <a:bodyPr/>
          <a:lstStyle/>
          <a:p>
            <a:endParaRPr lang="en-BE"/>
          </a:p>
        </p:txBody>
      </p:sp>
      <p:sp>
        <p:nvSpPr>
          <p:cNvPr id="32" name="Text 30"/>
          <p:cNvSpPr txBox="1"/>
          <p:nvPr/>
        </p:nvSpPr>
        <p:spPr>
          <a:xfrm>
            <a:off x="8311896" y="435711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3" name="Text 31"/>
          <p:cNvSpPr txBox="1"/>
          <p:nvPr/>
        </p:nvSpPr>
        <p:spPr>
          <a:xfrm>
            <a:off x="8915400" y="4370832"/>
            <a:ext cx="2377440" cy="329184"/>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Deliver</a:t>
            </a:r>
            <a:endParaRPr lang="en-US" sz="1600" dirty="0"/>
          </a:p>
        </p:txBody>
      </p:sp>
      <p:sp>
        <p:nvSpPr>
          <p:cNvPr id="34" name="Text 32"/>
          <p:cNvSpPr txBox="1"/>
          <p:nvPr/>
        </p:nvSpPr>
        <p:spPr>
          <a:xfrm>
            <a:off x="8311896" y="4864608"/>
            <a:ext cx="2953512" cy="713232"/>
          </a:xfrm>
          <a:prstGeom prst="rect">
            <a:avLst/>
          </a:prstGeom>
          <a:noFill/>
          <a:ln/>
        </p:spPr>
        <p:txBody>
          <a:bodyPr wrap="square" lIns="0" tIns="0" rIns="0" bIns="0" rtlCol="0" anchor="t"/>
          <a:lstStyle/>
          <a:p>
            <a:pPr marL="0" indent="0">
              <a:lnSpc>
                <a:spcPts val="1500"/>
              </a:lnSpc>
              <a:buNone/>
            </a:pPr>
            <a:r>
              <a:rPr lang="en-US" sz="1150" dirty="0">
                <a:solidFill>
                  <a:srgbClr val="3A3A3A"/>
                </a:solidFill>
                <a:latin typeface="Calibri" pitchFamily="34" charset="0"/>
                <a:ea typeface="Calibri" pitchFamily="34" charset="-122"/>
                <a:cs typeface="Calibri" pitchFamily="34" charset="-120"/>
              </a:rPr>
              <a:t>A ranked shortlist, each opportunity linked back to the exact articles behind it.</a:t>
            </a:r>
            <a:endParaRPr lang="en-US" sz="1150" dirty="0"/>
          </a:p>
        </p:txBody>
      </p:sp>
      <p:sp>
        <p:nvSpPr>
          <p:cNvPr id="35" name="Text 33"/>
          <p:cNvSpPr txBox="1"/>
          <p:nvPr/>
        </p:nvSpPr>
        <p:spPr>
          <a:xfrm>
            <a:off x="685800" y="6053328"/>
            <a:ext cx="10789920" cy="457200"/>
          </a:xfrm>
          <a:prstGeom prst="rect">
            <a:avLst/>
          </a:prstGeom>
          <a:noFill/>
          <a:ln/>
        </p:spPr>
        <p:txBody>
          <a:bodyPr wrap="square" lIns="0" tIns="0" rIns="0" bIns="0" rtlCol="0" anchor="t"/>
          <a:lstStyle/>
          <a:p>
            <a:pPr marL="0" indent="0">
              <a:lnSpc>
                <a:spcPts val="1600"/>
              </a:lnSpc>
              <a:buNone/>
            </a:pPr>
            <a:r>
              <a:rPr lang="en-US" sz="1250" i="1" dirty="0">
                <a:solidFill>
                  <a:srgbClr val="2B2B2B"/>
                </a:solidFill>
                <a:latin typeface="Calibri" pitchFamily="34" charset="0"/>
                <a:ea typeface="Calibri" pitchFamily="34" charset="-122"/>
                <a:cs typeface="Calibri" pitchFamily="34" charset="-120"/>
              </a:rPr>
              <a:t>Only the first stage makes its own choices. Everything that produces a number follows fixed rules — so the same evidence always gives the same answer.</a:t>
            </a:r>
            <a:endParaRPr lang="en-US" sz="1250" dirty="0"/>
          </a:p>
        </p:txBody>
      </p:sp>
      <p:sp>
        <p:nvSpPr>
          <p:cNvPr id="36" name="Text 34"/>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WHY YOU CAN TRUST IT — 1</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An opportunity needs corroboration, not a headline</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One article is a story. Three independent outlets telling the same story is a signal you can act on</a:t>
            </a:r>
            <a:endParaRPr lang="en-US" sz="1450" dirty="0"/>
          </a:p>
        </p:txBody>
      </p:sp>
      <p:sp>
        <p:nvSpPr>
          <p:cNvPr id="5" name="Shape 3"/>
          <p:cNvSpPr/>
          <p:nvPr/>
        </p:nvSpPr>
        <p:spPr>
          <a:xfrm>
            <a:off x="685800" y="2286000"/>
            <a:ext cx="5212080" cy="3063240"/>
          </a:xfrm>
          <a:prstGeom prst="roundRect">
            <a:avLst>
              <a:gd name="adj" fmla="val 1194"/>
            </a:avLst>
          </a:prstGeom>
          <a:solidFill>
            <a:srgbClr val="F2F2F2"/>
          </a:solidFill>
          <a:ln w="9525">
            <a:solidFill>
              <a:srgbClr val="DDDDDD"/>
            </a:solidFill>
            <a:prstDash val="solid"/>
          </a:ln>
        </p:spPr>
        <p:txBody>
          <a:bodyPr/>
          <a:lstStyle/>
          <a:p>
            <a:endParaRPr lang="en-BE"/>
          </a:p>
        </p:txBody>
      </p:sp>
      <p:sp>
        <p:nvSpPr>
          <p:cNvPr id="6" name="Text 4"/>
          <p:cNvSpPr txBox="1"/>
          <p:nvPr/>
        </p:nvSpPr>
        <p:spPr>
          <a:xfrm>
            <a:off x="1005840" y="2560320"/>
            <a:ext cx="4572000" cy="292608"/>
          </a:xfrm>
          <a:prstGeom prst="rect">
            <a:avLst/>
          </a:prstGeom>
          <a:noFill/>
          <a:ln/>
        </p:spPr>
        <p:txBody>
          <a:bodyPr wrap="square" lIns="0" tIns="0" rIns="0" bIns="0" rtlCol="0" anchor="ctr"/>
          <a:lstStyle/>
          <a:p>
            <a:pPr marL="0" indent="0">
              <a:buNone/>
            </a:pPr>
            <a:r>
              <a:rPr lang="en-US" sz="1500" b="1" dirty="0">
                <a:solidFill>
                  <a:srgbClr val="121212"/>
                </a:solidFill>
                <a:latin typeface="Arial" pitchFamily="34" charset="0"/>
                <a:ea typeface="Arial" pitchFamily="34" charset="-122"/>
                <a:cs typeface="Arial" pitchFamily="34" charset="-120"/>
              </a:rPr>
              <a:t>What the system does</a:t>
            </a:r>
            <a:endParaRPr lang="en-US" sz="1500" dirty="0"/>
          </a:p>
        </p:txBody>
      </p:sp>
      <p:sp>
        <p:nvSpPr>
          <p:cNvPr id="7" name="Text 5"/>
          <p:cNvSpPr txBox="1"/>
          <p:nvPr/>
        </p:nvSpPr>
        <p:spPr>
          <a:xfrm>
            <a:off x="1005840" y="3017520"/>
            <a:ext cx="4572000" cy="210312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3A3A3A"/>
                </a:solidFill>
                <a:latin typeface="Calibri" pitchFamily="34" charset="0"/>
                <a:ea typeface="Calibri" pitchFamily="34" charset="-122"/>
                <a:cs typeface="Calibri" pitchFamily="34" charset="-120"/>
              </a:rPr>
              <a:t>Reads what each article is actually about, rather than which words it happens to use.</a:t>
            </a:r>
            <a:endParaRPr lang="en-US" sz="1250" dirty="0"/>
          </a:p>
          <a:p>
            <a:pPr marL="342900" indent="-342900">
              <a:lnSpc>
                <a:spcPts val="1700"/>
              </a:lnSpc>
              <a:spcAft>
                <a:spcPts val="800"/>
              </a:spcAft>
              <a:buSzPct val="100000"/>
              <a:buChar char="•"/>
            </a:pPr>
            <a:r>
              <a:rPr lang="en-US" sz="1250" dirty="0">
                <a:solidFill>
                  <a:srgbClr val="3A3A3A"/>
                </a:solidFill>
                <a:latin typeface="Calibri" pitchFamily="34" charset="0"/>
                <a:ea typeface="Calibri" pitchFamily="34" charset="-122"/>
                <a:cs typeface="Calibri" pitchFamily="34" charset="-120"/>
              </a:rPr>
              <a:t>Groups together the ones telling the same underlying story.</a:t>
            </a:r>
            <a:endParaRPr lang="en-US" sz="1250" dirty="0"/>
          </a:p>
          <a:p>
            <a:pPr marL="342900" indent="-342900">
              <a:lnSpc>
                <a:spcPts val="1700"/>
              </a:lnSpc>
              <a:spcAft>
                <a:spcPts val="800"/>
              </a:spcAft>
              <a:buSzPct val="100000"/>
              <a:buChar char="•"/>
            </a:pPr>
            <a:r>
              <a:rPr lang="en-US" sz="1250" dirty="0">
                <a:solidFill>
                  <a:srgbClr val="3A3A3A"/>
                </a:solidFill>
                <a:latin typeface="Calibri" pitchFamily="34" charset="0"/>
                <a:ea typeface="Calibri" pitchFamily="34" charset="-122"/>
                <a:cs typeface="Calibri" pitchFamily="34" charset="-120"/>
              </a:rPr>
              <a:t>Requires at least three independent articles before a group counts at all.</a:t>
            </a:r>
            <a:endParaRPr lang="en-US" sz="1250" dirty="0"/>
          </a:p>
          <a:p>
            <a:pPr marL="342900" indent="-342900">
              <a:lnSpc>
                <a:spcPts val="1700"/>
              </a:lnSpc>
              <a:spcAft>
                <a:spcPts val="800"/>
              </a:spcAft>
              <a:buSzPct val="100000"/>
              <a:buChar char="•"/>
            </a:pPr>
            <a:r>
              <a:rPr lang="en-US" sz="1250" dirty="0">
                <a:solidFill>
                  <a:srgbClr val="3A3A3A"/>
                </a:solidFill>
                <a:latin typeface="Calibri" pitchFamily="34" charset="0"/>
                <a:ea typeface="Calibri" pitchFamily="34" charset="-122"/>
                <a:cs typeface="Calibri" pitchFamily="34" charset="-120"/>
              </a:rPr>
              <a:t>Only then writes it up as a named opportunity, from all of them at once.</a:t>
            </a:r>
            <a:endParaRPr lang="en-US" sz="1250" dirty="0"/>
          </a:p>
        </p:txBody>
      </p:sp>
      <p:sp>
        <p:nvSpPr>
          <p:cNvPr id="8" name="Shape 6"/>
          <p:cNvSpPr/>
          <p:nvPr/>
        </p:nvSpPr>
        <p:spPr>
          <a:xfrm>
            <a:off x="6263640" y="2286000"/>
            <a:ext cx="5212080" cy="3063240"/>
          </a:xfrm>
          <a:prstGeom prst="roundRect">
            <a:avLst>
              <a:gd name="adj" fmla="val 1194"/>
            </a:avLst>
          </a:prstGeom>
          <a:solidFill>
            <a:srgbClr val="FFF1E4"/>
          </a:solidFill>
          <a:ln w="9525">
            <a:solidFill>
              <a:srgbClr val="DDDDDD"/>
            </a:solidFill>
            <a:prstDash val="solid"/>
          </a:ln>
        </p:spPr>
        <p:txBody>
          <a:bodyPr/>
          <a:lstStyle/>
          <a:p>
            <a:endParaRPr lang="en-BE"/>
          </a:p>
        </p:txBody>
      </p:sp>
      <p:sp>
        <p:nvSpPr>
          <p:cNvPr id="9" name="Text 7"/>
          <p:cNvSpPr txBox="1"/>
          <p:nvPr/>
        </p:nvSpPr>
        <p:spPr>
          <a:xfrm>
            <a:off x="6583680" y="2560320"/>
            <a:ext cx="4572000" cy="292608"/>
          </a:xfrm>
          <a:prstGeom prst="rect">
            <a:avLst/>
          </a:prstGeom>
          <a:noFill/>
          <a:ln/>
        </p:spPr>
        <p:txBody>
          <a:bodyPr wrap="square" lIns="0" tIns="0" rIns="0" bIns="0" rtlCol="0" anchor="ctr"/>
          <a:lstStyle/>
          <a:p>
            <a:pPr marL="0" indent="0">
              <a:buNone/>
            </a:pPr>
            <a:r>
              <a:rPr lang="en-US" sz="1500" b="1" dirty="0">
                <a:solidFill>
                  <a:srgbClr val="121212"/>
                </a:solidFill>
                <a:latin typeface="Arial" pitchFamily="34" charset="0"/>
                <a:ea typeface="Arial" pitchFamily="34" charset="-122"/>
                <a:cs typeface="Arial" pitchFamily="34" charset="-120"/>
              </a:rPr>
              <a:t>What that buys you</a:t>
            </a:r>
            <a:endParaRPr lang="en-US" sz="1500" dirty="0"/>
          </a:p>
        </p:txBody>
      </p:sp>
      <p:sp>
        <p:nvSpPr>
          <p:cNvPr id="10" name="Text 8"/>
          <p:cNvSpPr txBox="1"/>
          <p:nvPr/>
        </p:nvSpPr>
        <p:spPr>
          <a:xfrm>
            <a:off x="6583680" y="3017520"/>
            <a:ext cx="4572000" cy="2103120"/>
          </a:xfrm>
          <a:prstGeom prst="rect">
            <a:avLst/>
          </a:prstGeom>
          <a:noFill/>
          <a:ln/>
        </p:spPr>
        <p:txBody>
          <a:bodyPr wrap="square" lIns="0" tIns="0" rIns="0" bIns="0" rtlCol="0" anchor="t"/>
          <a:lstStyle/>
          <a:p>
            <a:pPr marL="0" indent="0">
              <a:lnSpc>
                <a:spcPts val="1700"/>
              </a:lnSpc>
              <a:buNone/>
            </a:pPr>
            <a:r>
              <a:rPr lang="en-US" sz="1250" dirty="0">
                <a:solidFill>
                  <a:srgbClr val="3A3A3A"/>
                </a:solidFill>
                <a:latin typeface="Calibri" pitchFamily="34" charset="0"/>
                <a:ea typeface="Calibri" pitchFamily="34" charset="-122"/>
                <a:cs typeface="Calibri" pitchFamily="34" charset="-120"/>
              </a:rPr>
              <a:t>Two outlets covering the same launch in completely different words still end up together — a keyword search would miss that entirely.</a:t>
            </a:r>
            <a:endParaRPr lang="en-US" sz="1250" dirty="0"/>
          </a:p>
          <a:p>
            <a:pPr marL="0" indent="0">
              <a:lnSpc>
                <a:spcPts val="1700"/>
              </a:lnSpc>
              <a:buNone/>
            </a:pPr>
            <a:endParaRPr lang="en-US" sz="1250" dirty="0"/>
          </a:p>
          <a:p>
            <a:pPr marL="0" indent="0">
              <a:lnSpc>
                <a:spcPts val="1700"/>
              </a:lnSpc>
              <a:buNone/>
            </a:pPr>
            <a:r>
              <a:rPr lang="en-US" sz="1250" dirty="0">
                <a:solidFill>
                  <a:srgbClr val="3A3A3A"/>
                </a:solidFill>
                <a:latin typeface="Calibri" pitchFamily="34" charset="0"/>
                <a:ea typeface="Calibri" pitchFamily="34" charset="-122"/>
                <a:cs typeface="Calibri" pitchFamily="34" charset="-120"/>
              </a:rPr>
              <a:t>And it sets a floor on quality. Ten articles from one publication is one source with an opinion. Four articles from four publications is a market moving.</a:t>
            </a:r>
            <a:endParaRPr lang="en-US" sz="1250" dirty="0"/>
          </a:p>
        </p:txBody>
      </p:sp>
      <p:sp>
        <p:nvSpPr>
          <p:cNvPr id="11" name="Text 9"/>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WHY YOU CAN TRUST IT — 2</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A gap is only a gap if Orange cannot already do it</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Before anything is scored, each group is checked against what Orange already sells — and in which markets</a:t>
            </a:r>
            <a:endParaRPr lang="en-US" sz="1450" dirty="0"/>
          </a:p>
        </p:txBody>
      </p:sp>
      <p:sp>
        <p:nvSpPr>
          <p:cNvPr id="5" name="Shape 3"/>
          <p:cNvSpPr/>
          <p:nvPr/>
        </p:nvSpPr>
        <p:spPr>
          <a:xfrm>
            <a:off x="685800" y="2240280"/>
            <a:ext cx="10789920" cy="1417320"/>
          </a:xfrm>
          <a:prstGeom prst="roundRect">
            <a:avLst>
              <a:gd name="adj" fmla="val 2581"/>
            </a:avLst>
          </a:prstGeom>
          <a:solidFill>
            <a:srgbClr val="F7F7F7"/>
          </a:solidFill>
          <a:ln w="9525">
            <a:solidFill>
              <a:srgbClr val="DDDDDD"/>
            </a:solidFill>
            <a:prstDash val="solid"/>
          </a:ln>
        </p:spPr>
        <p:txBody>
          <a:bodyPr/>
          <a:lstStyle/>
          <a:p>
            <a:endParaRPr lang="en-BE"/>
          </a:p>
        </p:txBody>
      </p:sp>
      <p:sp>
        <p:nvSpPr>
          <p:cNvPr id="6" name="Text 4"/>
          <p:cNvSpPr txBox="1"/>
          <p:nvPr/>
        </p:nvSpPr>
        <p:spPr>
          <a:xfrm>
            <a:off x="1051560" y="2487168"/>
            <a:ext cx="4023360" cy="320040"/>
          </a:xfrm>
          <a:prstGeom prst="rect">
            <a:avLst/>
          </a:prstGeom>
          <a:noFill/>
          <a:ln/>
        </p:spPr>
        <p:txBody>
          <a:bodyPr wrap="square" lIns="0" tIns="0" rIns="0" bIns="0" rtlCol="0" anchor="ctr"/>
          <a:lstStyle/>
          <a:p>
            <a:pPr marL="0" indent="0">
              <a:buNone/>
            </a:pPr>
            <a:r>
              <a:rPr lang="en-US" sz="1500" b="1" dirty="0">
                <a:solidFill>
                  <a:srgbClr val="121212"/>
                </a:solidFill>
                <a:latin typeface="Arial" pitchFamily="34" charset="0"/>
                <a:ea typeface="Arial" pitchFamily="34" charset="-122"/>
                <a:cs typeface="Arial" pitchFamily="34" charset="-120"/>
              </a:rPr>
              <a:t>Private 5G in a European port</a:t>
            </a:r>
            <a:endParaRPr lang="en-US" sz="1500" dirty="0"/>
          </a:p>
        </p:txBody>
      </p:sp>
      <p:sp>
        <p:nvSpPr>
          <p:cNvPr id="7" name="Text 5"/>
          <p:cNvSpPr txBox="1"/>
          <p:nvPr/>
        </p:nvSpPr>
        <p:spPr>
          <a:xfrm>
            <a:off x="1051560" y="2834640"/>
            <a:ext cx="8138160" cy="548640"/>
          </a:xfrm>
          <a:prstGeom prst="rect">
            <a:avLst/>
          </a:prstGeom>
          <a:noFill/>
          <a:ln/>
        </p:spPr>
        <p:txBody>
          <a:bodyPr wrap="square" lIns="0" tIns="0" rIns="0" bIns="0" rtlCol="0" anchor="t"/>
          <a:lstStyle/>
          <a:p>
            <a:pPr marL="0" indent="0">
              <a:lnSpc>
                <a:spcPts val="1600"/>
              </a:lnSpc>
              <a:buNone/>
            </a:pPr>
            <a:r>
              <a:rPr lang="en-US" sz="1250" dirty="0">
                <a:solidFill>
                  <a:srgbClr val="3A3A3A"/>
                </a:solidFill>
                <a:latin typeface="Calibri" pitchFamily="34" charset="0"/>
                <a:ea typeface="Calibri" pitchFamily="34" charset="-122"/>
                <a:cs typeface="Calibri" pitchFamily="34" charset="-120"/>
              </a:rPr>
              <a:t>Orange leads the Gartner Magic Quadrant for private mobile networks and runs the Port of Antwerp campus.</a:t>
            </a:r>
            <a:endParaRPr lang="en-US" sz="1250" dirty="0"/>
          </a:p>
        </p:txBody>
      </p:sp>
      <p:sp>
        <p:nvSpPr>
          <p:cNvPr id="8" name="Text 6"/>
          <p:cNvSpPr txBox="1"/>
          <p:nvPr/>
        </p:nvSpPr>
        <p:spPr>
          <a:xfrm>
            <a:off x="9509760" y="2697480"/>
            <a:ext cx="1554480" cy="384048"/>
          </a:xfrm>
          <a:prstGeom prst="rect">
            <a:avLst/>
          </a:prstGeom>
          <a:noFill/>
          <a:ln/>
        </p:spPr>
        <p:txBody>
          <a:bodyPr wrap="square" lIns="0" tIns="0" rIns="0" bIns="0" rtlCol="0" anchor="ctr"/>
          <a:lstStyle/>
          <a:p>
            <a:pPr marL="0" indent="0" algn="r">
              <a:buNone/>
            </a:pPr>
            <a:r>
              <a:rPr lang="en-US" sz="1500" b="1" dirty="0">
                <a:solidFill>
                  <a:srgbClr val="8A8A8A"/>
                </a:solidFill>
                <a:latin typeface="Arial" pitchFamily="34" charset="0"/>
                <a:ea typeface="Arial" pitchFamily="34" charset="-122"/>
                <a:cs typeface="Arial" pitchFamily="34" charset="-120"/>
              </a:rPr>
              <a:t>SKIPPED</a:t>
            </a:r>
            <a:endParaRPr lang="en-US" sz="1500" dirty="0"/>
          </a:p>
        </p:txBody>
      </p:sp>
      <p:sp>
        <p:nvSpPr>
          <p:cNvPr id="9" name="Shape 7"/>
          <p:cNvSpPr/>
          <p:nvPr/>
        </p:nvSpPr>
        <p:spPr>
          <a:xfrm>
            <a:off x="685800" y="3794760"/>
            <a:ext cx="10789920" cy="1417320"/>
          </a:xfrm>
          <a:prstGeom prst="roundRect">
            <a:avLst>
              <a:gd name="adj" fmla="val 2581"/>
            </a:avLst>
          </a:prstGeom>
          <a:solidFill>
            <a:srgbClr val="FFF1E4"/>
          </a:solidFill>
          <a:ln w="9525">
            <a:solidFill>
              <a:srgbClr val="DDDDDD"/>
            </a:solidFill>
            <a:prstDash val="solid"/>
          </a:ln>
        </p:spPr>
        <p:txBody>
          <a:bodyPr/>
          <a:lstStyle/>
          <a:p>
            <a:endParaRPr lang="en-BE"/>
          </a:p>
        </p:txBody>
      </p:sp>
      <p:sp>
        <p:nvSpPr>
          <p:cNvPr id="10" name="Text 8"/>
          <p:cNvSpPr txBox="1"/>
          <p:nvPr/>
        </p:nvSpPr>
        <p:spPr>
          <a:xfrm>
            <a:off x="1051560" y="4041648"/>
            <a:ext cx="4754880" cy="320040"/>
          </a:xfrm>
          <a:prstGeom prst="rect">
            <a:avLst/>
          </a:prstGeom>
          <a:noFill/>
          <a:ln/>
        </p:spPr>
        <p:txBody>
          <a:bodyPr wrap="square" lIns="0" tIns="0" rIns="0" bIns="0" rtlCol="0" anchor="ctr"/>
          <a:lstStyle/>
          <a:p>
            <a:pPr marL="0" indent="0">
              <a:buNone/>
            </a:pPr>
            <a:r>
              <a:rPr lang="en-US" sz="1500" b="1" dirty="0">
                <a:solidFill>
                  <a:srgbClr val="121212"/>
                </a:solidFill>
                <a:latin typeface="Arial" pitchFamily="34" charset="0"/>
                <a:ea typeface="Arial" pitchFamily="34" charset="-122"/>
                <a:cs typeface="Arial" pitchFamily="34" charset="-120"/>
              </a:rPr>
              <a:t>The same story about a US carrier</a:t>
            </a:r>
            <a:endParaRPr lang="en-US" sz="1500" dirty="0"/>
          </a:p>
        </p:txBody>
      </p:sp>
      <p:sp>
        <p:nvSpPr>
          <p:cNvPr id="11" name="Text 9"/>
          <p:cNvSpPr txBox="1"/>
          <p:nvPr/>
        </p:nvSpPr>
        <p:spPr>
          <a:xfrm>
            <a:off x="1051560" y="4389120"/>
            <a:ext cx="8138160" cy="548640"/>
          </a:xfrm>
          <a:prstGeom prst="rect">
            <a:avLst/>
          </a:prstGeom>
          <a:noFill/>
          <a:ln/>
        </p:spPr>
        <p:txBody>
          <a:bodyPr wrap="square" lIns="0" tIns="0" rIns="0" bIns="0" rtlCol="0" anchor="t"/>
          <a:lstStyle/>
          <a:p>
            <a:pPr marL="0" indent="0">
              <a:lnSpc>
                <a:spcPts val="1600"/>
              </a:lnSpc>
              <a:buNone/>
            </a:pPr>
            <a:r>
              <a:rPr lang="en-US" sz="1250" dirty="0">
                <a:solidFill>
                  <a:srgbClr val="3A3A3A"/>
                </a:solidFill>
                <a:latin typeface="Calibri" pitchFamily="34" charset="0"/>
                <a:ea typeface="Calibri" pitchFamily="34" charset="-122"/>
                <a:cs typeface="Calibri" pitchFamily="34" charset="-120"/>
              </a:rPr>
              <a:t>Orange has no network operator presence in the United States — so this is a genuine market-entry question, not something already covered.</a:t>
            </a:r>
            <a:endParaRPr lang="en-US" sz="1250" dirty="0"/>
          </a:p>
        </p:txBody>
      </p:sp>
      <p:sp>
        <p:nvSpPr>
          <p:cNvPr id="12" name="Text 10"/>
          <p:cNvSpPr txBox="1"/>
          <p:nvPr/>
        </p:nvSpPr>
        <p:spPr>
          <a:xfrm>
            <a:off x="9509760" y="4251960"/>
            <a:ext cx="1554480" cy="384048"/>
          </a:xfrm>
          <a:prstGeom prst="rect">
            <a:avLst/>
          </a:prstGeom>
          <a:noFill/>
          <a:ln/>
        </p:spPr>
        <p:txBody>
          <a:bodyPr wrap="square" lIns="0" tIns="0" rIns="0" bIns="0" rtlCol="0" anchor="ctr"/>
          <a:lstStyle/>
          <a:p>
            <a:pPr marL="0" indent="0" algn="r">
              <a:buNone/>
            </a:pPr>
            <a:r>
              <a:rPr lang="en-US" sz="1500" b="1" dirty="0">
                <a:solidFill>
                  <a:srgbClr val="FF7900"/>
                </a:solidFill>
                <a:latin typeface="Arial" pitchFamily="34" charset="0"/>
                <a:ea typeface="Arial" pitchFamily="34" charset="-122"/>
                <a:cs typeface="Arial" pitchFamily="34" charset="-120"/>
              </a:rPr>
              <a:t>KEPT</a:t>
            </a:r>
            <a:endParaRPr lang="en-US" sz="1500" dirty="0"/>
          </a:p>
        </p:txBody>
      </p:sp>
      <p:sp>
        <p:nvSpPr>
          <p:cNvPr id="13" name="Text 11"/>
          <p:cNvSpPr txBox="1"/>
          <p:nvPr/>
        </p:nvSpPr>
        <p:spPr>
          <a:xfrm>
            <a:off x="685800" y="5486400"/>
            <a:ext cx="10789920" cy="365760"/>
          </a:xfrm>
          <a:prstGeom prst="rect">
            <a:avLst/>
          </a:prstGeom>
          <a:noFill/>
          <a:ln/>
        </p:spPr>
        <p:txBody>
          <a:bodyPr wrap="square" lIns="0" tIns="0" rIns="0" bIns="0" rtlCol="0" anchor="ctr"/>
          <a:lstStyle/>
          <a:p>
            <a:pPr marL="0" indent="0">
              <a:buNone/>
            </a:pPr>
            <a:r>
              <a:rPr lang="en-US" sz="1350" i="1" dirty="0">
                <a:solidFill>
                  <a:srgbClr val="2B2B2B"/>
                </a:solidFill>
                <a:latin typeface="Calibri" pitchFamily="34" charset="0"/>
                <a:ea typeface="Calibri" pitchFamily="34" charset="-122"/>
                <a:cs typeface="Calibri" pitchFamily="34" charset="-120"/>
              </a:rPr>
              <a:t>Without this step the radar would spend its time flagging Orange's own product catalogue back at them.</a:t>
            </a:r>
            <a:endParaRPr lang="en-US" sz="1350" dirty="0"/>
          </a:p>
        </p:txBody>
      </p:sp>
      <p:sp>
        <p:nvSpPr>
          <p:cNvPr id="14" name="Text 12"/>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HOW THE SHORTLIST IS RANKED</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Attractiveness, and what is inside it</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Four of the five are measured directly from the evidence. The fifth is a judgement — and the tool labels it as one</a:t>
            </a:r>
            <a:endParaRPr lang="en-US" sz="1450" dirty="0"/>
          </a:p>
        </p:txBody>
      </p:sp>
      <p:sp>
        <p:nvSpPr>
          <p:cNvPr id="5" name="Text 3"/>
          <p:cNvSpPr txBox="1"/>
          <p:nvPr/>
        </p:nvSpPr>
        <p:spPr>
          <a:xfrm>
            <a:off x="713232" y="2286000"/>
            <a:ext cx="2743200" cy="228600"/>
          </a:xfrm>
          <a:prstGeom prst="rect">
            <a:avLst/>
          </a:prstGeom>
          <a:noFill/>
          <a:ln/>
        </p:spPr>
        <p:txBody>
          <a:bodyPr wrap="square" lIns="0" tIns="0" rIns="0" bIns="0" rtlCol="0" anchor="ctr"/>
          <a:lstStyle/>
          <a:p>
            <a:pPr marL="0" indent="0">
              <a:buNone/>
            </a:pPr>
            <a:r>
              <a:rPr lang="en-US" sz="950" b="1" kern="0" spc="120" dirty="0">
                <a:solidFill>
                  <a:srgbClr val="6E6E6E"/>
                </a:solidFill>
                <a:latin typeface="Calibri" pitchFamily="34" charset="0"/>
                <a:ea typeface="Calibri" pitchFamily="34" charset="-122"/>
                <a:cs typeface="Calibri" pitchFamily="34" charset="-120"/>
              </a:rPr>
              <a:t>COMPONENT</a:t>
            </a:r>
            <a:endParaRPr lang="en-US" sz="950" dirty="0"/>
          </a:p>
        </p:txBody>
      </p:sp>
      <p:sp>
        <p:nvSpPr>
          <p:cNvPr id="6" name="Text 4"/>
          <p:cNvSpPr txBox="1"/>
          <p:nvPr/>
        </p:nvSpPr>
        <p:spPr>
          <a:xfrm>
            <a:off x="3794760" y="2286000"/>
            <a:ext cx="914400" cy="228600"/>
          </a:xfrm>
          <a:prstGeom prst="rect">
            <a:avLst/>
          </a:prstGeom>
          <a:noFill/>
          <a:ln/>
        </p:spPr>
        <p:txBody>
          <a:bodyPr wrap="square" lIns="0" tIns="0" rIns="0" bIns="0" rtlCol="0" anchor="ctr"/>
          <a:lstStyle/>
          <a:p>
            <a:pPr marL="0" indent="0">
              <a:buNone/>
            </a:pPr>
            <a:r>
              <a:rPr lang="en-US" sz="950" b="1" kern="0" spc="120" dirty="0">
                <a:solidFill>
                  <a:srgbClr val="6E6E6E"/>
                </a:solidFill>
                <a:latin typeface="Calibri" pitchFamily="34" charset="0"/>
                <a:ea typeface="Calibri" pitchFamily="34" charset="-122"/>
                <a:cs typeface="Calibri" pitchFamily="34" charset="-120"/>
              </a:rPr>
              <a:t>WEIGHT</a:t>
            </a:r>
            <a:endParaRPr lang="en-US" sz="950" dirty="0"/>
          </a:p>
        </p:txBody>
      </p:sp>
      <p:sp>
        <p:nvSpPr>
          <p:cNvPr id="7" name="Text 5"/>
          <p:cNvSpPr txBox="1"/>
          <p:nvPr/>
        </p:nvSpPr>
        <p:spPr>
          <a:xfrm>
            <a:off x="4846320" y="2286000"/>
            <a:ext cx="1280160" cy="228600"/>
          </a:xfrm>
          <a:prstGeom prst="rect">
            <a:avLst/>
          </a:prstGeom>
          <a:noFill/>
          <a:ln/>
        </p:spPr>
        <p:txBody>
          <a:bodyPr wrap="square" lIns="0" tIns="0" rIns="0" bIns="0" rtlCol="0" anchor="ctr"/>
          <a:lstStyle/>
          <a:p>
            <a:pPr marL="0" indent="0">
              <a:buNone/>
            </a:pPr>
            <a:r>
              <a:rPr lang="en-US" sz="950" b="1" kern="0" spc="120" dirty="0">
                <a:solidFill>
                  <a:srgbClr val="6E6E6E"/>
                </a:solidFill>
                <a:latin typeface="Calibri" pitchFamily="34" charset="0"/>
                <a:ea typeface="Calibri" pitchFamily="34" charset="-122"/>
                <a:cs typeface="Calibri" pitchFamily="34" charset="-120"/>
              </a:rPr>
              <a:t>HOW</a:t>
            </a:r>
            <a:endParaRPr lang="en-US" sz="950" dirty="0"/>
          </a:p>
        </p:txBody>
      </p:sp>
      <p:sp>
        <p:nvSpPr>
          <p:cNvPr id="8" name="Text 6"/>
          <p:cNvSpPr txBox="1"/>
          <p:nvPr/>
        </p:nvSpPr>
        <p:spPr>
          <a:xfrm>
            <a:off x="5943600" y="2286000"/>
            <a:ext cx="3657600" cy="228600"/>
          </a:xfrm>
          <a:prstGeom prst="rect">
            <a:avLst/>
          </a:prstGeom>
          <a:noFill/>
          <a:ln/>
        </p:spPr>
        <p:txBody>
          <a:bodyPr wrap="square" lIns="0" tIns="0" rIns="0" bIns="0" rtlCol="0" anchor="ctr"/>
          <a:lstStyle/>
          <a:p>
            <a:pPr marL="0" indent="0">
              <a:buNone/>
            </a:pPr>
            <a:r>
              <a:rPr lang="en-US" sz="950" b="1" kern="0" spc="120" dirty="0">
                <a:solidFill>
                  <a:srgbClr val="6E6E6E"/>
                </a:solidFill>
                <a:latin typeface="Calibri" pitchFamily="34" charset="0"/>
                <a:ea typeface="Calibri" pitchFamily="34" charset="-122"/>
                <a:cs typeface="Calibri" pitchFamily="34" charset="-120"/>
              </a:rPr>
              <a:t>WHAT IT MEASURES</a:t>
            </a:r>
            <a:endParaRPr lang="en-US" sz="950" dirty="0"/>
          </a:p>
        </p:txBody>
      </p:sp>
      <p:sp>
        <p:nvSpPr>
          <p:cNvPr id="9" name="Shape 7"/>
          <p:cNvSpPr/>
          <p:nvPr/>
        </p:nvSpPr>
        <p:spPr>
          <a:xfrm>
            <a:off x="685800" y="2596896"/>
            <a:ext cx="10789920" cy="0"/>
          </a:xfrm>
          <a:prstGeom prst="line">
            <a:avLst/>
          </a:prstGeom>
          <a:noFill/>
          <a:ln w="9525">
            <a:solidFill>
              <a:srgbClr val="DDDDDD"/>
            </a:solidFill>
            <a:prstDash val="solid"/>
          </a:ln>
        </p:spPr>
        <p:txBody>
          <a:bodyPr/>
          <a:lstStyle/>
          <a:p>
            <a:endParaRPr lang="en-BE"/>
          </a:p>
        </p:txBody>
      </p:sp>
      <p:sp>
        <p:nvSpPr>
          <p:cNvPr id="10" name="Shape 8"/>
          <p:cNvSpPr/>
          <p:nvPr/>
        </p:nvSpPr>
        <p:spPr>
          <a:xfrm>
            <a:off x="713232" y="2788920"/>
            <a:ext cx="137160" cy="137160"/>
          </a:xfrm>
          <a:prstGeom prst="ellipse">
            <a:avLst/>
          </a:prstGeom>
          <a:solidFill>
            <a:srgbClr val="FF7900"/>
          </a:solidFill>
          <a:ln/>
        </p:spPr>
        <p:txBody>
          <a:bodyPr/>
          <a:lstStyle/>
          <a:p>
            <a:endParaRPr lang="en-BE"/>
          </a:p>
        </p:txBody>
      </p:sp>
      <p:sp>
        <p:nvSpPr>
          <p:cNvPr id="11" name="Text 9"/>
          <p:cNvSpPr txBox="1"/>
          <p:nvPr/>
        </p:nvSpPr>
        <p:spPr>
          <a:xfrm>
            <a:off x="960120" y="2688336"/>
            <a:ext cx="2834640" cy="329184"/>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How loud the market is</a:t>
            </a:r>
            <a:endParaRPr lang="en-US" sz="1300" dirty="0"/>
          </a:p>
        </p:txBody>
      </p:sp>
      <p:sp>
        <p:nvSpPr>
          <p:cNvPr id="12" name="Text 10"/>
          <p:cNvSpPr txBox="1"/>
          <p:nvPr/>
        </p:nvSpPr>
        <p:spPr>
          <a:xfrm>
            <a:off x="3794760" y="2688336"/>
            <a:ext cx="914400" cy="329184"/>
          </a:xfrm>
          <a:prstGeom prst="rect">
            <a:avLst/>
          </a:prstGeom>
          <a:noFill/>
          <a:ln/>
        </p:spPr>
        <p:txBody>
          <a:bodyPr wrap="square" lIns="0" tIns="0" rIns="0" bIns="0" rtlCol="0" anchor="ctr"/>
          <a:lstStyle/>
          <a:p>
            <a:pPr marL="0" indent="0">
              <a:buNone/>
            </a:pPr>
            <a:r>
              <a:rPr lang="en-US" sz="1300" b="1" dirty="0">
                <a:solidFill>
                  <a:srgbClr val="FF7900"/>
                </a:solidFill>
                <a:latin typeface="Arial" pitchFamily="34" charset="0"/>
                <a:ea typeface="Arial" pitchFamily="34" charset="-122"/>
                <a:cs typeface="Arial" pitchFamily="34" charset="-120"/>
              </a:rPr>
              <a:t>30%</a:t>
            </a:r>
            <a:endParaRPr lang="en-US" sz="1300" dirty="0"/>
          </a:p>
        </p:txBody>
      </p:sp>
      <p:sp>
        <p:nvSpPr>
          <p:cNvPr id="13" name="Text 11"/>
          <p:cNvSpPr txBox="1"/>
          <p:nvPr/>
        </p:nvSpPr>
        <p:spPr>
          <a:xfrm>
            <a:off x="4846320" y="2688336"/>
            <a:ext cx="1280160" cy="329184"/>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measured</a:t>
            </a:r>
            <a:endParaRPr lang="en-US" sz="1150" dirty="0"/>
          </a:p>
        </p:txBody>
      </p:sp>
      <p:sp>
        <p:nvSpPr>
          <p:cNvPr id="14" name="Text 12"/>
          <p:cNvSpPr txBox="1"/>
          <p:nvPr/>
        </p:nvSpPr>
        <p:spPr>
          <a:xfrm>
            <a:off x="5943600" y="2688336"/>
            <a:ext cx="5486400" cy="329184"/>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How much independent coverage the topic is generating right now</a:t>
            </a:r>
            <a:endParaRPr lang="en-US" sz="1150" dirty="0"/>
          </a:p>
        </p:txBody>
      </p:sp>
      <p:sp>
        <p:nvSpPr>
          <p:cNvPr id="15" name="Shape 13"/>
          <p:cNvSpPr/>
          <p:nvPr/>
        </p:nvSpPr>
        <p:spPr>
          <a:xfrm>
            <a:off x="685800" y="3163824"/>
            <a:ext cx="10789920" cy="0"/>
          </a:xfrm>
          <a:prstGeom prst="line">
            <a:avLst/>
          </a:prstGeom>
          <a:noFill/>
          <a:ln w="9525">
            <a:solidFill>
              <a:srgbClr val="DDDDDD"/>
            </a:solidFill>
            <a:prstDash val="solid"/>
          </a:ln>
        </p:spPr>
        <p:txBody>
          <a:bodyPr/>
          <a:lstStyle/>
          <a:p>
            <a:endParaRPr lang="en-BE"/>
          </a:p>
        </p:txBody>
      </p:sp>
      <p:sp>
        <p:nvSpPr>
          <p:cNvPr id="16" name="Shape 14"/>
          <p:cNvSpPr/>
          <p:nvPr/>
        </p:nvSpPr>
        <p:spPr>
          <a:xfrm>
            <a:off x="713232" y="3355848"/>
            <a:ext cx="137160" cy="137160"/>
          </a:xfrm>
          <a:prstGeom prst="ellipse">
            <a:avLst/>
          </a:prstGeom>
          <a:solidFill>
            <a:srgbClr val="2A78D6"/>
          </a:solidFill>
          <a:ln/>
        </p:spPr>
        <p:txBody>
          <a:bodyPr/>
          <a:lstStyle/>
          <a:p>
            <a:endParaRPr lang="en-BE"/>
          </a:p>
        </p:txBody>
      </p:sp>
      <p:sp>
        <p:nvSpPr>
          <p:cNvPr id="17" name="Text 15"/>
          <p:cNvSpPr txBox="1"/>
          <p:nvPr/>
        </p:nvSpPr>
        <p:spPr>
          <a:xfrm>
            <a:off x="960120" y="3255264"/>
            <a:ext cx="2834640" cy="329184"/>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How many sources agree</a:t>
            </a:r>
            <a:endParaRPr lang="en-US" sz="1300" dirty="0"/>
          </a:p>
        </p:txBody>
      </p:sp>
      <p:sp>
        <p:nvSpPr>
          <p:cNvPr id="18" name="Text 16"/>
          <p:cNvSpPr txBox="1"/>
          <p:nvPr/>
        </p:nvSpPr>
        <p:spPr>
          <a:xfrm>
            <a:off x="3794760" y="3255264"/>
            <a:ext cx="914400" cy="329184"/>
          </a:xfrm>
          <a:prstGeom prst="rect">
            <a:avLst/>
          </a:prstGeom>
          <a:noFill/>
          <a:ln/>
        </p:spPr>
        <p:txBody>
          <a:bodyPr wrap="square" lIns="0" tIns="0" rIns="0" bIns="0" rtlCol="0" anchor="ctr"/>
          <a:lstStyle/>
          <a:p>
            <a:pPr marL="0" indent="0">
              <a:buNone/>
            </a:pPr>
            <a:r>
              <a:rPr lang="en-US" sz="1300" b="1" dirty="0">
                <a:solidFill>
                  <a:srgbClr val="2A78D6"/>
                </a:solidFill>
                <a:latin typeface="Arial" pitchFamily="34" charset="0"/>
                <a:ea typeface="Arial" pitchFamily="34" charset="-122"/>
                <a:cs typeface="Arial" pitchFamily="34" charset="-120"/>
              </a:rPr>
              <a:t>20%</a:t>
            </a:r>
            <a:endParaRPr lang="en-US" sz="1300" dirty="0"/>
          </a:p>
        </p:txBody>
      </p:sp>
      <p:sp>
        <p:nvSpPr>
          <p:cNvPr id="19" name="Text 17"/>
          <p:cNvSpPr txBox="1"/>
          <p:nvPr/>
        </p:nvSpPr>
        <p:spPr>
          <a:xfrm>
            <a:off x="4846320" y="3255264"/>
            <a:ext cx="1280160" cy="329184"/>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measured</a:t>
            </a:r>
            <a:endParaRPr lang="en-US" sz="1150" dirty="0"/>
          </a:p>
        </p:txBody>
      </p:sp>
      <p:sp>
        <p:nvSpPr>
          <p:cNvPr id="20" name="Text 18"/>
          <p:cNvSpPr txBox="1"/>
          <p:nvPr/>
        </p:nvSpPr>
        <p:spPr>
          <a:xfrm>
            <a:off x="5943600" y="3255264"/>
            <a:ext cx="5486400" cy="329184"/>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Four outlets saying it beats one outlet saying it four times</a:t>
            </a:r>
            <a:endParaRPr lang="en-US" sz="1150" dirty="0"/>
          </a:p>
        </p:txBody>
      </p:sp>
      <p:sp>
        <p:nvSpPr>
          <p:cNvPr id="21" name="Shape 19"/>
          <p:cNvSpPr/>
          <p:nvPr/>
        </p:nvSpPr>
        <p:spPr>
          <a:xfrm>
            <a:off x="685800" y="3730752"/>
            <a:ext cx="10789920" cy="0"/>
          </a:xfrm>
          <a:prstGeom prst="line">
            <a:avLst/>
          </a:prstGeom>
          <a:noFill/>
          <a:ln w="9525">
            <a:solidFill>
              <a:srgbClr val="DDDDDD"/>
            </a:solidFill>
            <a:prstDash val="solid"/>
          </a:ln>
        </p:spPr>
        <p:txBody>
          <a:bodyPr/>
          <a:lstStyle/>
          <a:p>
            <a:endParaRPr lang="en-BE"/>
          </a:p>
        </p:txBody>
      </p:sp>
      <p:sp>
        <p:nvSpPr>
          <p:cNvPr id="22" name="Shape 20"/>
          <p:cNvSpPr/>
          <p:nvPr/>
        </p:nvSpPr>
        <p:spPr>
          <a:xfrm>
            <a:off x="713232" y="3922776"/>
            <a:ext cx="137160" cy="137160"/>
          </a:xfrm>
          <a:prstGeom prst="ellipse">
            <a:avLst/>
          </a:prstGeom>
          <a:solidFill>
            <a:srgbClr val="4A3AA7"/>
          </a:solidFill>
          <a:ln/>
        </p:spPr>
        <p:txBody>
          <a:bodyPr/>
          <a:lstStyle/>
          <a:p>
            <a:endParaRPr lang="en-BE"/>
          </a:p>
        </p:txBody>
      </p:sp>
      <p:sp>
        <p:nvSpPr>
          <p:cNvPr id="23" name="Text 21"/>
          <p:cNvSpPr txBox="1"/>
          <p:nvPr/>
        </p:nvSpPr>
        <p:spPr>
          <a:xfrm>
            <a:off x="960120" y="3822192"/>
            <a:ext cx="2834640" cy="329184"/>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Fit with Orange strategy</a:t>
            </a:r>
            <a:endParaRPr lang="en-US" sz="1300" dirty="0"/>
          </a:p>
        </p:txBody>
      </p:sp>
      <p:sp>
        <p:nvSpPr>
          <p:cNvPr id="24" name="Text 22"/>
          <p:cNvSpPr txBox="1"/>
          <p:nvPr/>
        </p:nvSpPr>
        <p:spPr>
          <a:xfrm>
            <a:off x="3794760" y="3822192"/>
            <a:ext cx="914400" cy="329184"/>
          </a:xfrm>
          <a:prstGeom prst="rect">
            <a:avLst/>
          </a:prstGeom>
          <a:noFill/>
          <a:ln/>
        </p:spPr>
        <p:txBody>
          <a:bodyPr wrap="square" lIns="0" tIns="0" rIns="0" bIns="0" rtlCol="0" anchor="ctr"/>
          <a:lstStyle/>
          <a:p>
            <a:pPr marL="0" indent="0">
              <a:buNone/>
            </a:pPr>
            <a:r>
              <a:rPr lang="en-US" sz="1300" b="1" dirty="0">
                <a:solidFill>
                  <a:srgbClr val="4A3AA7"/>
                </a:solidFill>
                <a:latin typeface="Arial" pitchFamily="34" charset="0"/>
                <a:ea typeface="Arial" pitchFamily="34" charset="-122"/>
                <a:cs typeface="Arial" pitchFamily="34" charset="-120"/>
              </a:rPr>
              <a:t>20%</a:t>
            </a:r>
            <a:endParaRPr lang="en-US" sz="1300" dirty="0"/>
          </a:p>
        </p:txBody>
      </p:sp>
      <p:sp>
        <p:nvSpPr>
          <p:cNvPr id="25" name="Text 23"/>
          <p:cNvSpPr txBox="1"/>
          <p:nvPr/>
        </p:nvSpPr>
        <p:spPr>
          <a:xfrm>
            <a:off x="4846320" y="3822192"/>
            <a:ext cx="1280160" cy="329184"/>
          </a:xfrm>
          <a:prstGeom prst="rect">
            <a:avLst/>
          </a:prstGeom>
          <a:noFill/>
          <a:ln/>
        </p:spPr>
        <p:txBody>
          <a:bodyPr wrap="square" lIns="0" tIns="0" rIns="0" bIns="0" rtlCol="0" anchor="ctr"/>
          <a:lstStyle/>
          <a:p>
            <a:pPr marL="0" indent="0">
              <a:buNone/>
            </a:pPr>
            <a:r>
              <a:rPr lang="en-US" sz="1150" dirty="0">
                <a:solidFill>
                  <a:srgbClr val="4A3AA7"/>
                </a:solidFill>
                <a:latin typeface="Calibri" pitchFamily="34" charset="0"/>
                <a:ea typeface="Calibri" pitchFamily="34" charset="-122"/>
                <a:cs typeface="Calibri" pitchFamily="34" charset="-120"/>
              </a:rPr>
              <a:t>judged</a:t>
            </a:r>
            <a:endParaRPr lang="en-US" sz="1150" dirty="0"/>
          </a:p>
        </p:txBody>
      </p:sp>
      <p:sp>
        <p:nvSpPr>
          <p:cNvPr id="26" name="Text 24"/>
          <p:cNvSpPr txBox="1"/>
          <p:nvPr/>
        </p:nvSpPr>
        <p:spPr>
          <a:xfrm>
            <a:off x="5943600" y="3822192"/>
            <a:ext cx="5486400" cy="329184"/>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How well it lines up with your stated priorities. The one judgement call</a:t>
            </a:r>
            <a:endParaRPr lang="en-US" sz="1150" dirty="0"/>
          </a:p>
        </p:txBody>
      </p:sp>
      <p:sp>
        <p:nvSpPr>
          <p:cNvPr id="27" name="Shape 25"/>
          <p:cNvSpPr/>
          <p:nvPr/>
        </p:nvSpPr>
        <p:spPr>
          <a:xfrm>
            <a:off x="685800" y="4297680"/>
            <a:ext cx="10789920" cy="0"/>
          </a:xfrm>
          <a:prstGeom prst="line">
            <a:avLst/>
          </a:prstGeom>
          <a:noFill/>
          <a:ln w="9525">
            <a:solidFill>
              <a:srgbClr val="DDDDDD"/>
            </a:solidFill>
            <a:prstDash val="solid"/>
          </a:ln>
        </p:spPr>
        <p:txBody>
          <a:bodyPr/>
          <a:lstStyle/>
          <a:p>
            <a:endParaRPr lang="en-BE"/>
          </a:p>
        </p:txBody>
      </p:sp>
      <p:sp>
        <p:nvSpPr>
          <p:cNvPr id="28" name="Shape 26"/>
          <p:cNvSpPr/>
          <p:nvPr/>
        </p:nvSpPr>
        <p:spPr>
          <a:xfrm>
            <a:off x="713232" y="4489704"/>
            <a:ext cx="137160" cy="137160"/>
          </a:xfrm>
          <a:prstGeom prst="ellipse">
            <a:avLst/>
          </a:prstGeom>
          <a:solidFill>
            <a:srgbClr val="1BAF7A"/>
          </a:solidFill>
          <a:ln/>
        </p:spPr>
        <p:txBody>
          <a:bodyPr/>
          <a:lstStyle/>
          <a:p>
            <a:endParaRPr lang="en-BE"/>
          </a:p>
        </p:txBody>
      </p:sp>
      <p:sp>
        <p:nvSpPr>
          <p:cNvPr id="29" name="Text 27"/>
          <p:cNvSpPr txBox="1"/>
          <p:nvPr/>
        </p:nvSpPr>
        <p:spPr>
          <a:xfrm>
            <a:off x="960120" y="4389120"/>
            <a:ext cx="2834640" cy="329184"/>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How credible the sources are</a:t>
            </a:r>
            <a:endParaRPr lang="en-US" sz="1300" dirty="0"/>
          </a:p>
        </p:txBody>
      </p:sp>
      <p:sp>
        <p:nvSpPr>
          <p:cNvPr id="30" name="Text 28"/>
          <p:cNvSpPr txBox="1"/>
          <p:nvPr/>
        </p:nvSpPr>
        <p:spPr>
          <a:xfrm>
            <a:off x="3794760" y="4389120"/>
            <a:ext cx="914400" cy="329184"/>
          </a:xfrm>
          <a:prstGeom prst="rect">
            <a:avLst/>
          </a:prstGeom>
          <a:noFill/>
          <a:ln/>
        </p:spPr>
        <p:txBody>
          <a:bodyPr wrap="square" lIns="0" tIns="0" rIns="0" bIns="0" rtlCol="0" anchor="ctr"/>
          <a:lstStyle/>
          <a:p>
            <a:pPr marL="0" indent="0">
              <a:buNone/>
            </a:pPr>
            <a:r>
              <a:rPr lang="en-US" sz="1300" b="1" dirty="0">
                <a:solidFill>
                  <a:srgbClr val="1BAF7A"/>
                </a:solidFill>
                <a:latin typeface="Arial" pitchFamily="34" charset="0"/>
                <a:ea typeface="Arial" pitchFamily="34" charset="-122"/>
                <a:cs typeface="Arial" pitchFamily="34" charset="-120"/>
              </a:rPr>
              <a:t>15%</a:t>
            </a:r>
            <a:endParaRPr lang="en-US" sz="1300" dirty="0"/>
          </a:p>
        </p:txBody>
      </p:sp>
      <p:sp>
        <p:nvSpPr>
          <p:cNvPr id="31" name="Text 29"/>
          <p:cNvSpPr txBox="1"/>
          <p:nvPr/>
        </p:nvSpPr>
        <p:spPr>
          <a:xfrm>
            <a:off x="4846320" y="4389120"/>
            <a:ext cx="1280160" cy="329184"/>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measured</a:t>
            </a:r>
            <a:endParaRPr lang="en-US" sz="1150" dirty="0"/>
          </a:p>
        </p:txBody>
      </p:sp>
      <p:sp>
        <p:nvSpPr>
          <p:cNvPr id="32" name="Text 30"/>
          <p:cNvSpPr txBox="1"/>
          <p:nvPr/>
        </p:nvSpPr>
        <p:spPr>
          <a:xfrm>
            <a:off x="5943600" y="4389120"/>
            <a:ext cx="5486400" cy="329184"/>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A regulator or a wire service counts for more than a press release</a:t>
            </a:r>
            <a:endParaRPr lang="en-US" sz="1150" dirty="0"/>
          </a:p>
        </p:txBody>
      </p:sp>
      <p:sp>
        <p:nvSpPr>
          <p:cNvPr id="33" name="Shape 31"/>
          <p:cNvSpPr/>
          <p:nvPr/>
        </p:nvSpPr>
        <p:spPr>
          <a:xfrm>
            <a:off x="685800" y="4864608"/>
            <a:ext cx="10789920" cy="0"/>
          </a:xfrm>
          <a:prstGeom prst="line">
            <a:avLst/>
          </a:prstGeom>
          <a:noFill/>
          <a:ln w="9525">
            <a:solidFill>
              <a:srgbClr val="DDDDDD"/>
            </a:solidFill>
            <a:prstDash val="solid"/>
          </a:ln>
        </p:spPr>
        <p:txBody>
          <a:bodyPr/>
          <a:lstStyle/>
          <a:p>
            <a:endParaRPr lang="en-BE"/>
          </a:p>
        </p:txBody>
      </p:sp>
      <p:sp>
        <p:nvSpPr>
          <p:cNvPr id="34" name="Shape 32"/>
          <p:cNvSpPr/>
          <p:nvPr/>
        </p:nvSpPr>
        <p:spPr>
          <a:xfrm>
            <a:off x="713232" y="5056632"/>
            <a:ext cx="137160" cy="137160"/>
          </a:xfrm>
          <a:prstGeom prst="ellipse">
            <a:avLst/>
          </a:prstGeom>
          <a:solidFill>
            <a:srgbClr val="3A3A3A"/>
          </a:solidFill>
          <a:ln/>
        </p:spPr>
        <p:txBody>
          <a:bodyPr/>
          <a:lstStyle/>
          <a:p>
            <a:endParaRPr lang="en-BE"/>
          </a:p>
        </p:txBody>
      </p:sp>
      <p:sp>
        <p:nvSpPr>
          <p:cNvPr id="35" name="Text 33"/>
          <p:cNvSpPr txBox="1"/>
          <p:nvPr/>
        </p:nvSpPr>
        <p:spPr>
          <a:xfrm>
            <a:off x="960120" y="4956048"/>
            <a:ext cx="2834640" cy="329184"/>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How recent it is</a:t>
            </a:r>
            <a:endParaRPr lang="en-US" sz="1300" dirty="0"/>
          </a:p>
        </p:txBody>
      </p:sp>
      <p:sp>
        <p:nvSpPr>
          <p:cNvPr id="36" name="Text 34"/>
          <p:cNvSpPr txBox="1"/>
          <p:nvPr/>
        </p:nvSpPr>
        <p:spPr>
          <a:xfrm>
            <a:off x="3794760" y="4956048"/>
            <a:ext cx="914400" cy="329184"/>
          </a:xfrm>
          <a:prstGeom prst="rect">
            <a:avLst/>
          </a:prstGeom>
          <a:noFill/>
          <a:ln/>
        </p:spPr>
        <p:txBody>
          <a:bodyPr wrap="square" lIns="0" tIns="0" rIns="0" bIns="0" rtlCol="0" anchor="ctr"/>
          <a:lstStyle/>
          <a:p>
            <a:pPr marL="0" indent="0">
              <a:buNone/>
            </a:pPr>
            <a:r>
              <a:rPr lang="en-US" sz="1300" b="1" dirty="0">
                <a:solidFill>
                  <a:srgbClr val="3A3A3A"/>
                </a:solidFill>
                <a:latin typeface="Arial" pitchFamily="34" charset="0"/>
                <a:ea typeface="Arial" pitchFamily="34" charset="-122"/>
                <a:cs typeface="Arial" pitchFamily="34" charset="-120"/>
              </a:rPr>
              <a:t>15%</a:t>
            </a:r>
            <a:endParaRPr lang="en-US" sz="1300" dirty="0"/>
          </a:p>
        </p:txBody>
      </p:sp>
      <p:sp>
        <p:nvSpPr>
          <p:cNvPr id="37" name="Text 35"/>
          <p:cNvSpPr txBox="1"/>
          <p:nvPr/>
        </p:nvSpPr>
        <p:spPr>
          <a:xfrm>
            <a:off x="4846320" y="4956048"/>
            <a:ext cx="1280160" cy="329184"/>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measured</a:t>
            </a:r>
            <a:endParaRPr lang="en-US" sz="1150" dirty="0"/>
          </a:p>
        </p:txBody>
      </p:sp>
      <p:sp>
        <p:nvSpPr>
          <p:cNvPr id="38" name="Text 36"/>
          <p:cNvSpPr txBox="1"/>
          <p:nvPr/>
        </p:nvSpPr>
        <p:spPr>
          <a:xfrm>
            <a:off x="5943600" y="4956048"/>
            <a:ext cx="5486400" cy="329184"/>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This quarter matters more than eighteen months ago, on a sliding scale</a:t>
            </a:r>
            <a:endParaRPr lang="en-US" sz="1150" dirty="0"/>
          </a:p>
        </p:txBody>
      </p:sp>
      <p:sp>
        <p:nvSpPr>
          <p:cNvPr id="39" name="Shape 37"/>
          <p:cNvSpPr/>
          <p:nvPr/>
        </p:nvSpPr>
        <p:spPr>
          <a:xfrm>
            <a:off x="685800" y="5431536"/>
            <a:ext cx="10789920" cy="0"/>
          </a:xfrm>
          <a:prstGeom prst="line">
            <a:avLst/>
          </a:prstGeom>
          <a:noFill/>
          <a:ln w="9525">
            <a:solidFill>
              <a:srgbClr val="DDDDDD"/>
            </a:solidFill>
            <a:prstDash val="solid"/>
          </a:ln>
        </p:spPr>
        <p:txBody>
          <a:bodyPr/>
          <a:lstStyle/>
          <a:p>
            <a:endParaRPr lang="en-BE"/>
          </a:p>
        </p:txBody>
      </p:sp>
      <p:sp>
        <p:nvSpPr>
          <p:cNvPr id="40" name="Text 38"/>
          <p:cNvSpPr txBox="1"/>
          <p:nvPr/>
        </p:nvSpPr>
        <p:spPr>
          <a:xfrm>
            <a:off x="685800" y="5623560"/>
            <a:ext cx="10789920" cy="457200"/>
          </a:xfrm>
          <a:prstGeom prst="rect">
            <a:avLst/>
          </a:prstGeom>
          <a:noFill/>
          <a:ln/>
        </p:spPr>
        <p:txBody>
          <a:bodyPr wrap="square" lIns="0" tIns="0" rIns="0" bIns="0" rtlCol="0" anchor="ctr"/>
          <a:lstStyle/>
          <a:p>
            <a:pPr marL="0" indent="0">
              <a:buNone/>
            </a:pPr>
            <a:r>
              <a:rPr lang="en-US" sz="1350" i="1" dirty="0">
                <a:solidFill>
                  <a:srgbClr val="2B2B2B"/>
                </a:solidFill>
                <a:latin typeface="Calibri" pitchFamily="34" charset="0"/>
                <a:ea typeface="Calibri" pitchFamily="34" charset="-122"/>
                <a:cs typeface="Calibri" pitchFamily="34" charset="-120"/>
              </a:rPr>
              <a:t>Four fifths of every score is arithmetic you could re-run yourself. The remaining fifth is clearly marked as a judgement — so you always know which part is fact and which part is a view.</a:t>
            </a:r>
            <a:endParaRPr lang="en-US" sz="1350" dirty="0"/>
          </a:p>
        </p:txBody>
      </p:sp>
      <p:sp>
        <p:nvSpPr>
          <p:cNvPr id="41" name="Text 39"/>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THE OUTPUT</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Seven opportunity spaces, placed and ranked </a:t>
            </a:r>
            <a:r>
              <a:rPr lang="en-US" sz="3200" b="1" i="1" kern="0" spc="-50" dirty="0">
                <a:solidFill>
                  <a:srgbClr val="121212"/>
                </a:solidFill>
                <a:latin typeface="Arial" pitchFamily="34" charset="0"/>
                <a:ea typeface="Arial" pitchFamily="34" charset="-122"/>
                <a:cs typeface="Arial" pitchFamily="34" charset="-120"/>
              </a:rPr>
              <a:t>– the old one </a:t>
            </a:r>
            <a:endParaRPr lang="en-US" sz="3200" i="1"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Closer to the centre means act sooner. Bigger means a stronger case. Grouped by industry, so you can go straight to yours</a:t>
            </a:r>
            <a:endParaRPr lang="en-US" sz="1450" dirty="0"/>
          </a:p>
        </p:txBody>
      </p:sp>
      <p:pic>
        <p:nvPicPr>
          <p:cNvPr id="5" name="Image 0" descr="preencoded.png"/>
          <p:cNvPicPr>
            <a:picLocks noChangeAspect="1"/>
          </p:cNvPicPr>
          <p:nvPr/>
        </p:nvPicPr>
        <p:blipFill>
          <a:blip r:embed="rId3"/>
          <a:stretch>
            <a:fillRect/>
          </a:stretch>
        </p:blipFill>
        <p:spPr>
          <a:xfrm>
            <a:off x="685800" y="2011680"/>
            <a:ext cx="5074920" cy="3675888"/>
          </a:xfrm>
          <a:prstGeom prst="rect">
            <a:avLst/>
          </a:prstGeom>
        </p:spPr>
      </p:pic>
      <p:sp>
        <p:nvSpPr>
          <p:cNvPr id="6" name="Shape 3"/>
          <p:cNvSpPr/>
          <p:nvPr/>
        </p:nvSpPr>
        <p:spPr>
          <a:xfrm>
            <a:off x="713232" y="5971032"/>
            <a:ext cx="155448" cy="155448"/>
          </a:xfrm>
          <a:prstGeom prst="ellipse">
            <a:avLst/>
          </a:prstGeom>
          <a:solidFill>
            <a:srgbClr val="FF7900"/>
          </a:solidFill>
          <a:ln/>
        </p:spPr>
        <p:txBody>
          <a:bodyPr/>
          <a:lstStyle/>
          <a:p>
            <a:endParaRPr lang="en-BE"/>
          </a:p>
        </p:txBody>
      </p:sp>
      <p:sp>
        <p:nvSpPr>
          <p:cNvPr id="7" name="Text 4"/>
          <p:cNvSpPr txBox="1"/>
          <p:nvPr/>
        </p:nvSpPr>
        <p:spPr>
          <a:xfrm>
            <a:off x="950976" y="5916168"/>
            <a:ext cx="1280160" cy="274320"/>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Now horizon</a:t>
            </a:r>
            <a:endParaRPr lang="en-US" sz="1150" dirty="0"/>
          </a:p>
        </p:txBody>
      </p:sp>
      <p:sp>
        <p:nvSpPr>
          <p:cNvPr id="8" name="Shape 5"/>
          <p:cNvSpPr/>
          <p:nvPr/>
        </p:nvSpPr>
        <p:spPr>
          <a:xfrm>
            <a:off x="2084832" y="5971032"/>
            <a:ext cx="155448" cy="155448"/>
          </a:xfrm>
          <a:prstGeom prst="ellipse">
            <a:avLst/>
          </a:prstGeom>
          <a:solidFill>
            <a:srgbClr val="2A78D6"/>
          </a:solidFill>
          <a:ln/>
        </p:spPr>
        <p:txBody>
          <a:bodyPr/>
          <a:lstStyle/>
          <a:p>
            <a:endParaRPr lang="en-BE"/>
          </a:p>
        </p:txBody>
      </p:sp>
      <p:sp>
        <p:nvSpPr>
          <p:cNvPr id="9" name="Text 6"/>
          <p:cNvSpPr txBox="1"/>
          <p:nvPr/>
        </p:nvSpPr>
        <p:spPr>
          <a:xfrm>
            <a:off x="2322576" y="5916168"/>
            <a:ext cx="1280160" cy="274320"/>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Next horizon</a:t>
            </a:r>
            <a:endParaRPr lang="en-US" sz="1150" dirty="0"/>
          </a:p>
        </p:txBody>
      </p:sp>
      <p:sp>
        <p:nvSpPr>
          <p:cNvPr id="10" name="Shape 7"/>
          <p:cNvSpPr/>
          <p:nvPr/>
        </p:nvSpPr>
        <p:spPr>
          <a:xfrm>
            <a:off x="3456432" y="5971032"/>
            <a:ext cx="155448" cy="155448"/>
          </a:xfrm>
          <a:prstGeom prst="ellipse">
            <a:avLst/>
          </a:prstGeom>
          <a:solidFill>
            <a:srgbClr val="4A3AA7"/>
          </a:solidFill>
          <a:ln/>
        </p:spPr>
        <p:txBody>
          <a:bodyPr/>
          <a:lstStyle/>
          <a:p>
            <a:endParaRPr lang="en-BE"/>
          </a:p>
        </p:txBody>
      </p:sp>
      <p:sp>
        <p:nvSpPr>
          <p:cNvPr id="11" name="Text 8"/>
          <p:cNvSpPr txBox="1"/>
          <p:nvPr/>
        </p:nvSpPr>
        <p:spPr>
          <a:xfrm>
            <a:off x="3694176" y="5916168"/>
            <a:ext cx="1280160" cy="274320"/>
          </a:xfrm>
          <a:prstGeom prst="rect">
            <a:avLst/>
          </a:prstGeom>
          <a:noFill/>
          <a:ln/>
        </p:spPr>
        <p:txBody>
          <a:bodyPr wrap="square" lIns="0" tIns="0" rIns="0" bIns="0" rtlCol="0" anchor="ctr"/>
          <a:lstStyle/>
          <a:p>
            <a:pPr marL="0" indent="0">
              <a:buNone/>
            </a:pPr>
            <a:r>
              <a:rPr lang="en-US" sz="1150" dirty="0">
                <a:solidFill>
                  <a:srgbClr val="3A3A3A"/>
                </a:solidFill>
                <a:latin typeface="Calibri" pitchFamily="34" charset="0"/>
                <a:ea typeface="Calibri" pitchFamily="34" charset="-122"/>
                <a:cs typeface="Calibri" pitchFamily="34" charset="-120"/>
              </a:rPr>
              <a:t>Later horizon</a:t>
            </a:r>
            <a:endParaRPr lang="en-US" sz="1150" dirty="0"/>
          </a:p>
        </p:txBody>
      </p:sp>
      <p:sp>
        <p:nvSpPr>
          <p:cNvPr id="12" name="Shape 9"/>
          <p:cNvSpPr/>
          <p:nvPr/>
        </p:nvSpPr>
        <p:spPr>
          <a:xfrm>
            <a:off x="6053328" y="2350008"/>
            <a:ext cx="146304" cy="146304"/>
          </a:xfrm>
          <a:prstGeom prst="ellipse">
            <a:avLst/>
          </a:prstGeom>
          <a:solidFill>
            <a:srgbClr val="FF7900"/>
          </a:solidFill>
          <a:ln/>
        </p:spPr>
        <p:txBody>
          <a:bodyPr/>
          <a:lstStyle/>
          <a:p>
            <a:endParaRPr lang="en-BE"/>
          </a:p>
        </p:txBody>
      </p:sp>
      <p:sp>
        <p:nvSpPr>
          <p:cNvPr id="13" name="Text 10"/>
          <p:cNvSpPr txBox="1"/>
          <p:nvPr/>
        </p:nvSpPr>
        <p:spPr>
          <a:xfrm>
            <a:off x="6400800" y="2286000"/>
            <a:ext cx="5074920" cy="292608"/>
          </a:xfrm>
          <a:prstGeom prst="rect">
            <a:avLst/>
          </a:prstGeom>
          <a:noFill/>
          <a:ln/>
        </p:spPr>
        <p:txBody>
          <a:bodyPr wrap="square" lIns="0" tIns="0" rIns="0" bIns="0" rtlCol="0" anchor="t"/>
          <a:lstStyle/>
          <a:p>
            <a:pPr marL="0" indent="0">
              <a:buNone/>
            </a:pPr>
            <a:r>
              <a:rPr lang="en-US" sz="1400" b="1" dirty="0">
                <a:solidFill>
                  <a:srgbClr val="121212"/>
                </a:solidFill>
                <a:latin typeface="Arial" pitchFamily="34" charset="0"/>
                <a:ea typeface="Arial" pitchFamily="34" charset="-122"/>
                <a:cs typeface="Arial" pitchFamily="34" charset="-120"/>
              </a:rPr>
              <a:t>Where to look first</a:t>
            </a:r>
            <a:endParaRPr lang="en-US" sz="1400" dirty="0"/>
          </a:p>
        </p:txBody>
      </p:sp>
      <p:sp>
        <p:nvSpPr>
          <p:cNvPr id="14" name="Text 11"/>
          <p:cNvSpPr txBox="1"/>
          <p:nvPr/>
        </p:nvSpPr>
        <p:spPr>
          <a:xfrm>
            <a:off x="6400800" y="2615184"/>
            <a:ext cx="5074920" cy="868680"/>
          </a:xfrm>
          <a:prstGeom prst="rect">
            <a:avLst/>
          </a:prstGeom>
          <a:noFill/>
          <a:ln/>
        </p:spPr>
        <p:txBody>
          <a:bodyPr wrap="square" lIns="0" tIns="0" rIns="0" bIns="0" rtlCol="0" anchor="t"/>
          <a:lstStyle/>
          <a:p>
            <a:pPr marL="0" indent="0">
              <a:lnSpc>
                <a:spcPts val="1700"/>
              </a:lnSpc>
              <a:buNone/>
            </a:pPr>
            <a:r>
              <a:rPr lang="en-US" sz="1250" dirty="0">
                <a:solidFill>
                  <a:srgbClr val="3A3A3A"/>
                </a:solidFill>
                <a:latin typeface="Calibri" pitchFamily="34" charset="0"/>
                <a:ea typeface="Calibri" pitchFamily="34" charset="-122"/>
                <a:cs typeface="Calibri" pitchFamily="34" charset="-120"/>
              </a:rPr>
              <a:t>The inner ring is what the evidence says is moving now. The outer rings are worth watching, not worth a meeting yet.</a:t>
            </a:r>
            <a:endParaRPr lang="en-US" sz="1250" dirty="0"/>
          </a:p>
        </p:txBody>
      </p:sp>
      <p:sp>
        <p:nvSpPr>
          <p:cNvPr id="15" name="Shape 12"/>
          <p:cNvSpPr/>
          <p:nvPr/>
        </p:nvSpPr>
        <p:spPr>
          <a:xfrm>
            <a:off x="6053328" y="3630168"/>
            <a:ext cx="146304" cy="146304"/>
          </a:xfrm>
          <a:prstGeom prst="ellipse">
            <a:avLst/>
          </a:prstGeom>
          <a:solidFill>
            <a:srgbClr val="2A78D6"/>
          </a:solidFill>
          <a:ln/>
        </p:spPr>
        <p:txBody>
          <a:bodyPr/>
          <a:lstStyle/>
          <a:p>
            <a:endParaRPr lang="en-BE"/>
          </a:p>
        </p:txBody>
      </p:sp>
      <p:sp>
        <p:nvSpPr>
          <p:cNvPr id="16" name="Text 13"/>
          <p:cNvSpPr txBox="1"/>
          <p:nvPr/>
        </p:nvSpPr>
        <p:spPr>
          <a:xfrm>
            <a:off x="6400800" y="3566160"/>
            <a:ext cx="5074920" cy="292608"/>
          </a:xfrm>
          <a:prstGeom prst="rect">
            <a:avLst/>
          </a:prstGeom>
          <a:noFill/>
          <a:ln/>
        </p:spPr>
        <p:txBody>
          <a:bodyPr wrap="square" lIns="0" tIns="0" rIns="0" bIns="0" rtlCol="0" anchor="t"/>
          <a:lstStyle/>
          <a:p>
            <a:pPr marL="0" indent="0">
              <a:buNone/>
            </a:pPr>
            <a:r>
              <a:rPr lang="en-US" sz="1400" b="1" dirty="0">
                <a:solidFill>
                  <a:srgbClr val="121212"/>
                </a:solidFill>
                <a:latin typeface="Arial" pitchFamily="34" charset="0"/>
                <a:ea typeface="Arial" pitchFamily="34" charset="-122"/>
                <a:cs typeface="Arial" pitchFamily="34" charset="-120"/>
              </a:rPr>
              <a:t>Filter to your world</a:t>
            </a:r>
            <a:endParaRPr lang="en-US" sz="1400" dirty="0"/>
          </a:p>
        </p:txBody>
      </p:sp>
      <p:sp>
        <p:nvSpPr>
          <p:cNvPr id="17" name="Text 14"/>
          <p:cNvSpPr txBox="1"/>
          <p:nvPr/>
        </p:nvSpPr>
        <p:spPr>
          <a:xfrm>
            <a:off x="6400800" y="3895344"/>
            <a:ext cx="5074920" cy="868680"/>
          </a:xfrm>
          <a:prstGeom prst="rect">
            <a:avLst/>
          </a:prstGeom>
          <a:noFill/>
          <a:ln/>
        </p:spPr>
        <p:txBody>
          <a:bodyPr wrap="square" lIns="0" tIns="0" rIns="0" bIns="0" rtlCol="0" anchor="t"/>
          <a:lstStyle/>
          <a:p>
            <a:pPr marL="0" indent="0">
              <a:lnSpc>
                <a:spcPts val="1700"/>
              </a:lnSpc>
              <a:buNone/>
            </a:pPr>
            <a:r>
              <a:rPr lang="en-US" sz="1250" dirty="0">
                <a:solidFill>
                  <a:srgbClr val="3A3A3A"/>
                </a:solidFill>
                <a:latin typeface="Calibri" pitchFamily="34" charset="0"/>
                <a:ea typeface="Calibri" pitchFamily="34" charset="-122"/>
                <a:cs typeface="Calibri" pitchFamily="34" charset="-120"/>
              </a:rPr>
              <a:t>Narrow to one industry, one technology or one time horizon, and the shortlist reshapes around what you actually own.</a:t>
            </a:r>
            <a:endParaRPr lang="en-US" sz="1250" dirty="0"/>
          </a:p>
        </p:txBody>
      </p:sp>
      <p:sp>
        <p:nvSpPr>
          <p:cNvPr id="18" name="Shape 15"/>
          <p:cNvSpPr/>
          <p:nvPr/>
        </p:nvSpPr>
        <p:spPr>
          <a:xfrm>
            <a:off x="6053328" y="4910328"/>
            <a:ext cx="146304" cy="146304"/>
          </a:xfrm>
          <a:prstGeom prst="ellipse">
            <a:avLst/>
          </a:prstGeom>
          <a:solidFill>
            <a:srgbClr val="4A3AA7"/>
          </a:solidFill>
          <a:ln/>
        </p:spPr>
        <p:txBody>
          <a:bodyPr/>
          <a:lstStyle/>
          <a:p>
            <a:endParaRPr lang="en-BE"/>
          </a:p>
        </p:txBody>
      </p:sp>
      <p:sp>
        <p:nvSpPr>
          <p:cNvPr id="19" name="Text 16"/>
          <p:cNvSpPr txBox="1"/>
          <p:nvPr/>
        </p:nvSpPr>
        <p:spPr>
          <a:xfrm>
            <a:off x="6400800" y="4846320"/>
            <a:ext cx="5074920" cy="292608"/>
          </a:xfrm>
          <a:prstGeom prst="rect">
            <a:avLst/>
          </a:prstGeom>
          <a:noFill/>
          <a:ln/>
        </p:spPr>
        <p:txBody>
          <a:bodyPr wrap="square" lIns="0" tIns="0" rIns="0" bIns="0" rtlCol="0" anchor="t"/>
          <a:lstStyle/>
          <a:p>
            <a:pPr marL="0" indent="0">
              <a:buNone/>
            </a:pPr>
            <a:r>
              <a:rPr lang="en-US" sz="1400" b="1" dirty="0">
                <a:solidFill>
                  <a:srgbClr val="121212"/>
                </a:solidFill>
                <a:latin typeface="Arial" pitchFamily="34" charset="0"/>
                <a:ea typeface="Arial" pitchFamily="34" charset="-122"/>
                <a:cs typeface="Arial" pitchFamily="34" charset="-120"/>
              </a:rPr>
              <a:t>Then open the case</a:t>
            </a:r>
            <a:endParaRPr lang="en-US" sz="1400" dirty="0"/>
          </a:p>
        </p:txBody>
      </p:sp>
      <p:sp>
        <p:nvSpPr>
          <p:cNvPr id="20" name="Text 17"/>
          <p:cNvSpPr txBox="1"/>
          <p:nvPr/>
        </p:nvSpPr>
        <p:spPr>
          <a:xfrm>
            <a:off x="6400800" y="5175504"/>
            <a:ext cx="5074920" cy="868680"/>
          </a:xfrm>
          <a:prstGeom prst="rect">
            <a:avLst/>
          </a:prstGeom>
          <a:noFill/>
          <a:ln/>
        </p:spPr>
        <p:txBody>
          <a:bodyPr wrap="square" lIns="0" tIns="0" rIns="0" bIns="0" rtlCol="0" anchor="t"/>
          <a:lstStyle/>
          <a:p>
            <a:pPr marL="0" indent="0">
              <a:lnSpc>
                <a:spcPts val="1700"/>
              </a:lnSpc>
              <a:buNone/>
            </a:pPr>
            <a:r>
              <a:rPr lang="en-US" sz="1250" dirty="0">
                <a:solidFill>
                  <a:srgbClr val="3A3A3A"/>
                </a:solidFill>
                <a:latin typeface="Calibri" pitchFamily="34" charset="0"/>
                <a:ea typeface="Calibri" pitchFamily="34" charset="-122"/>
                <a:cs typeface="Calibri" pitchFamily="34" charset="-120"/>
              </a:rPr>
              <a:t>Each bubble is one opportunity space, labelled with its reference code. Click it for the full write-up, the recommended step, and every source behind it.</a:t>
            </a:r>
            <a:endParaRPr lang="en-US" sz="1250" dirty="0"/>
          </a:p>
        </p:txBody>
      </p:sp>
      <p:sp>
        <p:nvSpPr>
          <p:cNvPr id="21" name="Text 18"/>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WHAT ONE ROW ACTUALLY CONTAINS</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One opportunity space, in full</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OS-001 · Ports &amp; Logistics × Automated port operations × Private 5G campus</a:t>
            </a:r>
            <a:endParaRPr lang="en-US" sz="1450" dirty="0"/>
          </a:p>
        </p:txBody>
      </p:sp>
      <p:sp>
        <p:nvSpPr>
          <p:cNvPr id="5" name="Text 3"/>
          <p:cNvSpPr txBox="1"/>
          <p:nvPr/>
        </p:nvSpPr>
        <p:spPr>
          <a:xfrm>
            <a:off x="685800" y="2057400"/>
            <a:ext cx="2194560" cy="914400"/>
          </a:xfrm>
          <a:prstGeom prst="rect">
            <a:avLst/>
          </a:prstGeom>
          <a:noFill/>
          <a:ln/>
        </p:spPr>
        <p:txBody>
          <a:bodyPr wrap="square" lIns="0" tIns="0" rIns="0" bIns="0" rtlCol="0" anchor="t"/>
          <a:lstStyle/>
          <a:p>
            <a:pPr marL="0" indent="0">
              <a:buNone/>
            </a:pPr>
            <a:r>
              <a:rPr lang="en-US" sz="5200" b="1" kern="0" spc="-150" dirty="0">
                <a:solidFill>
                  <a:srgbClr val="FF7900"/>
                </a:solidFill>
                <a:latin typeface="Arial" pitchFamily="34" charset="0"/>
                <a:ea typeface="Arial" pitchFamily="34" charset="-122"/>
                <a:cs typeface="Arial" pitchFamily="34" charset="-120"/>
              </a:rPr>
              <a:t>76.1</a:t>
            </a:r>
            <a:endParaRPr lang="en-US" sz="5200" dirty="0"/>
          </a:p>
        </p:txBody>
      </p:sp>
      <p:sp>
        <p:nvSpPr>
          <p:cNvPr id="6" name="Text 4"/>
          <p:cNvSpPr txBox="1"/>
          <p:nvPr/>
        </p:nvSpPr>
        <p:spPr>
          <a:xfrm>
            <a:off x="685800" y="3008376"/>
            <a:ext cx="2286000" cy="1097280"/>
          </a:xfrm>
          <a:prstGeom prst="rect">
            <a:avLst/>
          </a:prstGeom>
          <a:noFill/>
          <a:ln/>
        </p:spPr>
        <p:txBody>
          <a:bodyPr wrap="square" lIns="0" tIns="0" rIns="0" bIns="0" rtlCol="0" anchor="t"/>
          <a:lstStyle/>
          <a:p>
            <a:pPr marL="0" indent="0">
              <a:lnSpc>
                <a:spcPts val="1700"/>
              </a:lnSpc>
              <a:buNone/>
            </a:pPr>
            <a:r>
              <a:rPr lang="en-US" sz="1200" dirty="0">
                <a:solidFill>
                  <a:srgbClr val="6E6E6E"/>
                </a:solidFill>
                <a:latin typeface="Calibri" pitchFamily="34" charset="0"/>
                <a:ea typeface="Calibri" pitchFamily="34" charset="-122"/>
                <a:cs typeface="Calibri" pitchFamily="34" charset="-120"/>
              </a:rPr>
              <a:t>attractiveness</a:t>
            </a:r>
            <a:endParaRPr lang="en-US" sz="1200" dirty="0"/>
          </a:p>
          <a:p>
            <a:pPr marL="0" indent="0">
              <a:lnSpc>
                <a:spcPts val="1700"/>
              </a:lnSpc>
              <a:buNone/>
            </a:pPr>
            <a:r>
              <a:rPr lang="en-US" sz="1200" dirty="0">
                <a:solidFill>
                  <a:srgbClr val="6E6E6E"/>
                </a:solidFill>
                <a:latin typeface="Calibri" pitchFamily="34" charset="0"/>
                <a:ea typeface="Calibri" pitchFamily="34" charset="-122"/>
                <a:cs typeface="Calibri" pitchFamily="34" charset="-120"/>
              </a:rPr>
              <a:t>NOW horizon · Germany</a:t>
            </a:r>
            <a:endParaRPr lang="en-US" sz="1200" dirty="0"/>
          </a:p>
          <a:p>
            <a:pPr marL="0" indent="0">
              <a:lnSpc>
                <a:spcPts val="1700"/>
              </a:lnSpc>
              <a:buNone/>
            </a:pPr>
            <a:r>
              <a:rPr lang="en-US" sz="1200" dirty="0">
                <a:solidFill>
                  <a:srgbClr val="6E6E6E"/>
                </a:solidFill>
                <a:latin typeface="Calibri" pitchFamily="34" charset="0"/>
                <a:ea typeface="Calibri" pitchFamily="34" charset="-122"/>
                <a:cs typeface="Calibri" pitchFamily="34" charset="-120"/>
              </a:rPr>
              <a:t>6 articles, 5 sources</a:t>
            </a:r>
            <a:endParaRPr lang="en-US" sz="1200" dirty="0"/>
          </a:p>
        </p:txBody>
      </p:sp>
      <p:sp>
        <p:nvSpPr>
          <p:cNvPr id="7" name="Shape 5"/>
          <p:cNvSpPr/>
          <p:nvPr/>
        </p:nvSpPr>
        <p:spPr>
          <a:xfrm>
            <a:off x="3200400" y="2057400"/>
            <a:ext cx="8275320" cy="1069848"/>
          </a:xfrm>
          <a:prstGeom prst="roundRect">
            <a:avLst>
              <a:gd name="adj" fmla="val 3419"/>
            </a:avLst>
          </a:prstGeom>
          <a:solidFill>
            <a:srgbClr val="F2F2F2"/>
          </a:solidFill>
          <a:ln w="9525">
            <a:solidFill>
              <a:srgbClr val="DDDDDD"/>
            </a:solidFill>
            <a:prstDash val="solid"/>
          </a:ln>
        </p:spPr>
        <p:txBody>
          <a:bodyPr/>
          <a:lstStyle/>
          <a:p>
            <a:endParaRPr lang="en-BE"/>
          </a:p>
        </p:txBody>
      </p:sp>
      <p:sp>
        <p:nvSpPr>
          <p:cNvPr id="8" name="Shape 6"/>
          <p:cNvSpPr/>
          <p:nvPr/>
        </p:nvSpPr>
        <p:spPr>
          <a:xfrm>
            <a:off x="3456432" y="2313432"/>
            <a:ext cx="128016" cy="128016"/>
          </a:xfrm>
          <a:prstGeom prst="ellipse">
            <a:avLst/>
          </a:prstGeom>
          <a:solidFill>
            <a:srgbClr val="FF7900"/>
          </a:solidFill>
          <a:ln/>
        </p:spPr>
        <p:txBody>
          <a:bodyPr/>
          <a:lstStyle/>
          <a:p>
            <a:endParaRPr lang="en-BE"/>
          </a:p>
        </p:txBody>
      </p:sp>
      <p:sp>
        <p:nvSpPr>
          <p:cNvPr id="9" name="Text 7"/>
          <p:cNvSpPr txBox="1"/>
          <p:nvPr/>
        </p:nvSpPr>
        <p:spPr>
          <a:xfrm>
            <a:off x="3749040" y="2240280"/>
            <a:ext cx="4114800" cy="274320"/>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Why this is hot now</a:t>
            </a:r>
            <a:endParaRPr lang="en-US" sz="1300" dirty="0"/>
          </a:p>
        </p:txBody>
      </p:sp>
      <p:sp>
        <p:nvSpPr>
          <p:cNvPr id="10" name="Text 8"/>
          <p:cNvSpPr txBox="1"/>
          <p:nvPr/>
        </p:nvSpPr>
        <p:spPr>
          <a:xfrm>
            <a:off x="3749040" y="2542032"/>
            <a:ext cx="7498080" cy="566928"/>
          </a:xfrm>
          <a:prstGeom prst="rect">
            <a:avLst/>
          </a:prstGeom>
          <a:noFill/>
          <a:ln/>
        </p:spPr>
        <p:txBody>
          <a:bodyPr wrap="square" lIns="0" tIns="0" rIns="0" bIns="0" rtlCol="0" anchor="ctr"/>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Deutsche Telekom and Ericsson have deployed a live private 5G campus at the Port of Hamburg for real-time automation and autonomous logistics.</a:t>
            </a:r>
            <a:endParaRPr lang="en-US" sz="1200" dirty="0"/>
          </a:p>
        </p:txBody>
      </p:sp>
      <p:sp>
        <p:nvSpPr>
          <p:cNvPr id="11" name="Shape 9"/>
          <p:cNvSpPr/>
          <p:nvPr/>
        </p:nvSpPr>
        <p:spPr>
          <a:xfrm>
            <a:off x="3200400" y="3401568"/>
            <a:ext cx="8275320" cy="1069848"/>
          </a:xfrm>
          <a:prstGeom prst="roundRect">
            <a:avLst>
              <a:gd name="adj" fmla="val 3419"/>
            </a:avLst>
          </a:prstGeom>
          <a:solidFill>
            <a:srgbClr val="F2F2F2"/>
          </a:solidFill>
          <a:ln w="9525">
            <a:solidFill>
              <a:srgbClr val="DDDDDD"/>
            </a:solidFill>
            <a:prstDash val="solid"/>
          </a:ln>
        </p:spPr>
        <p:txBody>
          <a:bodyPr/>
          <a:lstStyle/>
          <a:p>
            <a:endParaRPr lang="en-BE"/>
          </a:p>
        </p:txBody>
      </p:sp>
      <p:sp>
        <p:nvSpPr>
          <p:cNvPr id="12" name="Shape 10"/>
          <p:cNvSpPr/>
          <p:nvPr/>
        </p:nvSpPr>
        <p:spPr>
          <a:xfrm>
            <a:off x="3456432" y="3657600"/>
            <a:ext cx="128016" cy="128016"/>
          </a:xfrm>
          <a:prstGeom prst="ellipse">
            <a:avLst/>
          </a:prstGeom>
          <a:solidFill>
            <a:srgbClr val="2A78D6"/>
          </a:solidFill>
          <a:ln/>
        </p:spPr>
        <p:txBody>
          <a:bodyPr/>
          <a:lstStyle/>
          <a:p>
            <a:endParaRPr lang="en-BE"/>
          </a:p>
        </p:txBody>
      </p:sp>
      <p:sp>
        <p:nvSpPr>
          <p:cNvPr id="13" name="Text 11"/>
          <p:cNvSpPr txBox="1"/>
          <p:nvPr/>
        </p:nvSpPr>
        <p:spPr>
          <a:xfrm>
            <a:off x="3749040" y="3584448"/>
            <a:ext cx="4114800" cy="274320"/>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Why it matters to Orange</a:t>
            </a:r>
            <a:endParaRPr lang="en-US" sz="1300" dirty="0"/>
          </a:p>
        </p:txBody>
      </p:sp>
      <p:sp>
        <p:nvSpPr>
          <p:cNvPr id="14" name="Text 12"/>
          <p:cNvSpPr txBox="1"/>
          <p:nvPr/>
        </p:nvSpPr>
        <p:spPr>
          <a:xfrm>
            <a:off x="3749040" y="3886200"/>
            <a:ext cx="7498080" cy="566928"/>
          </a:xfrm>
          <a:prstGeom prst="rect">
            <a:avLst/>
          </a:prstGeom>
          <a:noFill/>
          <a:ln/>
        </p:spPr>
        <p:txBody>
          <a:bodyPr wrap="square" lIns="0" tIns="0" rIns="0" bIns="0" rtlCol="0" anchor="ctr"/>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Orange has strong private 5G references — but its proven port footprint is Belgium. A rival now holds a marquee German port customer in an important European logistics hub.</a:t>
            </a:r>
            <a:endParaRPr lang="en-US" sz="1200" dirty="0"/>
          </a:p>
        </p:txBody>
      </p:sp>
      <p:sp>
        <p:nvSpPr>
          <p:cNvPr id="15" name="Shape 13"/>
          <p:cNvSpPr/>
          <p:nvPr/>
        </p:nvSpPr>
        <p:spPr>
          <a:xfrm>
            <a:off x="3200400" y="4745736"/>
            <a:ext cx="8275320" cy="1069848"/>
          </a:xfrm>
          <a:prstGeom prst="roundRect">
            <a:avLst>
              <a:gd name="adj" fmla="val 3419"/>
            </a:avLst>
          </a:prstGeom>
          <a:solidFill>
            <a:srgbClr val="FFF1E4"/>
          </a:solidFill>
          <a:ln w="9525">
            <a:solidFill>
              <a:srgbClr val="DDDDDD"/>
            </a:solidFill>
            <a:prstDash val="solid"/>
          </a:ln>
        </p:spPr>
        <p:txBody>
          <a:bodyPr/>
          <a:lstStyle/>
          <a:p>
            <a:endParaRPr lang="en-BE"/>
          </a:p>
        </p:txBody>
      </p:sp>
      <p:sp>
        <p:nvSpPr>
          <p:cNvPr id="16" name="Shape 14"/>
          <p:cNvSpPr/>
          <p:nvPr/>
        </p:nvSpPr>
        <p:spPr>
          <a:xfrm>
            <a:off x="3456432" y="5001768"/>
            <a:ext cx="128016" cy="128016"/>
          </a:xfrm>
          <a:prstGeom prst="ellipse">
            <a:avLst/>
          </a:prstGeom>
          <a:solidFill>
            <a:srgbClr val="4A3AA7"/>
          </a:solidFill>
          <a:ln/>
        </p:spPr>
        <p:txBody>
          <a:bodyPr/>
          <a:lstStyle/>
          <a:p>
            <a:endParaRPr lang="en-BE"/>
          </a:p>
        </p:txBody>
      </p:sp>
      <p:sp>
        <p:nvSpPr>
          <p:cNvPr id="17" name="Text 15"/>
          <p:cNvSpPr txBox="1"/>
          <p:nvPr/>
        </p:nvSpPr>
        <p:spPr>
          <a:xfrm>
            <a:off x="3749040" y="4928616"/>
            <a:ext cx="4114800" cy="274320"/>
          </a:xfrm>
          <a:prstGeom prst="rect">
            <a:avLst/>
          </a:prstGeom>
          <a:noFill/>
          <a:ln/>
        </p:spPr>
        <p:txBody>
          <a:bodyPr wrap="square" lIns="0" tIns="0" rIns="0" bIns="0" rtlCol="0" anchor="ctr"/>
          <a:lstStyle/>
          <a:p>
            <a:pPr marL="0" indent="0">
              <a:buNone/>
            </a:pPr>
            <a:r>
              <a:rPr lang="en-US" sz="1300" b="1" dirty="0">
                <a:solidFill>
                  <a:srgbClr val="121212"/>
                </a:solidFill>
                <a:latin typeface="Arial" pitchFamily="34" charset="0"/>
                <a:ea typeface="Arial" pitchFamily="34" charset="-122"/>
                <a:cs typeface="Arial" pitchFamily="34" charset="-120"/>
              </a:rPr>
              <a:t>Recommended next action</a:t>
            </a:r>
            <a:endParaRPr lang="en-US" sz="1300" dirty="0"/>
          </a:p>
        </p:txBody>
      </p:sp>
      <p:sp>
        <p:nvSpPr>
          <p:cNvPr id="18" name="Text 16"/>
          <p:cNvSpPr txBox="1"/>
          <p:nvPr/>
        </p:nvSpPr>
        <p:spPr>
          <a:xfrm>
            <a:off x="3749040" y="5230368"/>
            <a:ext cx="7498080" cy="566928"/>
          </a:xfrm>
          <a:prstGeom prst="rect">
            <a:avLst/>
          </a:prstGeom>
          <a:noFill/>
          <a:ln/>
        </p:spPr>
        <p:txBody>
          <a:bodyPr wrap="square" lIns="0" tIns="0" rIns="0" bIns="0" rtlCol="0" anchor="ctr"/>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Within 30 days, open exploratory discussions with German port operators and at least one German mobile operator or systems integrator, to scope a joint private 5G pilot.</a:t>
            </a:r>
            <a:endParaRPr lang="en-US" sz="1200" dirty="0"/>
          </a:p>
        </p:txBody>
      </p:sp>
      <p:sp>
        <p:nvSpPr>
          <p:cNvPr id="19" name="Text 17"/>
          <p:cNvSpPr txBox="1"/>
          <p:nvPr/>
        </p:nvSpPr>
        <p:spPr>
          <a:xfrm>
            <a:off x="685800" y="6053328"/>
            <a:ext cx="10789920" cy="365760"/>
          </a:xfrm>
          <a:prstGeom prst="rect">
            <a:avLst/>
          </a:prstGeom>
          <a:noFill/>
          <a:ln/>
        </p:spPr>
        <p:txBody>
          <a:bodyPr wrap="square" lIns="0" tIns="0" rIns="0" bIns="0" rtlCol="0" anchor="t"/>
          <a:lstStyle/>
          <a:p>
            <a:pPr marL="0" indent="0">
              <a:buNone/>
            </a:pPr>
            <a:r>
              <a:rPr lang="en-US" sz="1250" i="1" dirty="0">
                <a:solidFill>
                  <a:srgbClr val="2B2B2B"/>
                </a:solidFill>
                <a:latin typeface="Calibri" pitchFamily="34" charset="0"/>
                <a:ea typeface="Calibri" pitchFamily="34" charset="-122"/>
                <a:cs typeface="Calibri" pitchFamily="34" charset="-120"/>
              </a:rPr>
              <a:t>Behind this row: six linked articles, each with its publisher, date and URL. The score is not an opinion with a number attached to it.</a:t>
            </a:r>
            <a:endParaRPr lang="en-US" sz="1250" dirty="0"/>
          </a:p>
        </p:txBody>
      </p:sp>
      <p:sp>
        <p:nvSpPr>
          <p:cNvPr id="20" name="Text 18"/>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THE EVIDENCE UNDERNEATH</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619 signals, and where they come from</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Stacked by evidence type — a spike made of press releases means something very different from one made of regulator filings</a:t>
            </a:r>
            <a:endParaRPr lang="en-US" sz="1450" dirty="0"/>
          </a:p>
        </p:txBody>
      </p:sp>
      <p:pic>
        <p:nvPicPr>
          <p:cNvPr id="5" name="Image 0" descr="preencoded.png"/>
          <p:cNvPicPr>
            <a:picLocks noChangeAspect="1"/>
          </p:cNvPicPr>
          <p:nvPr/>
        </p:nvPicPr>
        <p:blipFill>
          <a:blip r:embed="rId3"/>
          <a:stretch>
            <a:fillRect/>
          </a:stretch>
        </p:blipFill>
        <p:spPr>
          <a:xfrm>
            <a:off x="685800" y="2148840"/>
            <a:ext cx="10789920" cy="3218688"/>
          </a:xfrm>
          <a:prstGeom prst="rect">
            <a:avLst/>
          </a:prstGeom>
        </p:spPr>
      </p:pic>
      <p:sp>
        <p:nvSpPr>
          <p:cNvPr id="6" name="Text 3"/>
          <p:cNvSpPr txBox="1"/>
          <p:nvPr/>
        </p:nvSpPr>
        <p:spPr>
          <a:xfrm>
            <a:off x="685800" y="5532120"/>
            <a:ext cx="1005840" cy="411480"/>
          </a:xfrm>
          <a:prstGeom prst="rect">
            <a:avLst/>
          </a:prstGeom>
          <a:noFill/>
          <a:ln/>
        </p:spPr>
        <p:txBody>
          <a:bodyPr wrap="square" lIns="0" tIns="0" rIns="0" bIns="0" rtlCol="0" anchor="ctr"/>
          <a:lstStyle/>
          <a:p>
            <a:pPr marL="0" indent="0">
              <a:buNone/>
            </a:pPr>
            <a:r>
              <a:rPr lang="en-US" sz="2200" b="1" dirty="0">
                <a:solidFill>
                  <a:srgbClr val="FF7900"/>
                </a:solidFill>
                <a:latin typeface="Arial" pitchFamily="34" charset="0"/>
                <a:ea typeface="Arial" pitchFamily="34" charset="-122"/>
                <a:cs typeface="Arial" pitchFamily="34" charset="-120"/>
              </a:rPr>
              <a:t>619</a:t>
            </a:r>
            <a:endParaRPr lang="en-US" sz="2200" dirty="0"/>
          </a:p>
        </p:txBody>
      </p:sp>
      <p:sp>
        <p:nvSpPr>
          <p:cNvPr id="7" name="Text 4"/>
          <p:cNvSpPr txBox="1"/>
          <p:nvPr/>
        </p:nvSpPr>
        <p:spPr>
          <a:xfrm>
            <a:off x="1691640" y="5632704"/>
            <a:ext cx="1371600" cy="274320"/>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signals</a:t>
            </a:r>
            <a:endParaRPr lang="en-US" sz="1150" dirty="0"/>
          </a:p>
        </p:txBody>
      </p:sp>
      <p:sp>
        <p:nvSpPr>
          <p:cNvPr id="8" name="Text 5"/>
          <p:cNvSpPr txBox="1"/>
          <p:nvPr/>
        </p:nvSpPr>
        <p:spPr>
          <a:xfrm>
            <a:off x="2880360" y="5532120"/>
            <a:ext cx="1005840" cy="411480"/>
          </a:xfrm>
          <a:prstGeom prst="rect">
            <a:avLst/>
          </a:prstGeom>
          <a:noFill/>
          <a:ln/>
        </p:spPr>
        <p:txBody>
          <a:bodyPr wrap="square" lIns="0" tIns="0" rIns="0" bIns="0" rtlCol="0" anchor="ctr"/>
          <a:lstStyle/>
          <a:p>
            <a:pPr marL="0" indent="0">
              <a:buNone/>
            </a:pPr>
            <a:r>
              <a:rPr lang="en-US" sz="2200" b="1" dirty="0">
                <a:solidFill>
                  <a:srgbClr val="FF7900"/>
                </a:solidFill>
                <a:latin typeface="Arial" pitchFamily="34" charset="0"/>
                <a:ea typeface="Arial" pitchFamily="34" charset="-122"/>
                <a:cs typeface="Arial" pitchFamily="34" charset="-120"/>
              </a:rPr>
              <a:t>440</a:t>
            </a:r>
            <a:endParaRPr lang="en-US" sz="2200" dirty="0"/>
          </a:p>
        </p:txBody>
      </p:sp>
      <p:sp>
        <p:nvSpPr>
          <p:cNvPr id="9" name="Text 6"/>
          <p:cNvSpPr txBox="1"/>
          <p:nvPr/>
        </p:nvSpPr>
        <p:spPr>
          <a:xfrm>
            <a:off x="3886200" y="5632704"/>
            <a:ext cx="1371600" cy="274320"/>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sources</a:t>
            </a:r>
            <a:endParaRPr lang="en-US" sz="1150" dirty="0"/>
          </a:p>
        </p:txBody>
      </p:sp>
      <p:sp>
        <p:nvSpPr>
          <p:cNvPr id="10" name="Text 7"/>
          <p:cNvSpPr txBox="1"/>
          <p:nvPr/>
        </p:nvSpPr>
        <p:spPr>
          <a:xfrm>
            <a:off x="5074920" y="5532120"/>
            <a:ext cx="1005840" cy="411480"/>
          </a:xfrm>
          <a:prstGeom prst="rect">
            <a:avLst/>
          </a:prstGeom>
          <a:noFill/>
          <a:ln/>
        </p:spPr>
        <p:txBody>
          <a:bodyPr wrap="square" lIns="0" tIns="0" rIns="0" bIns="0" rtlCol="0" anchor="ctr"/>
          <a:lstStyle/>
          <a:p>
            <a:pPr marL="0" indent="0">
              <a:buNone/>
            </a:pPr>
            <a:r>
              <a:rPr lang="en-US" sz="2200" b="1" dirty="0">
                <a:solidFill>
                  <a:srgbClr val="FF7900"/>
                </a:solidFill>
                <a:latin typeface="Arial" pitchFamily="34" charset="0"/>
                <a:ea typeface="Arial" pitchFamily="34" charset="-122"/>
                <a:cs typeface="Arial" pitchFamily="34" charset="-120"/>
              </a:rPr>
              <a:t>20</a:t>
            </a:r>
            <a:endParaRPr lang="en-US" sz="2200" dirty="0"/>
          </a:p>
        </p:txBody>
      </p:sp>
      <p:sp>
        <p:nvSpPr>
          <p:cNvPr id="11" name="Text 8"/>
          <p:cNvSpPr txBox="1"/>
          <p:nvPr/>
        </p:nvSpPr>
        <p:spPr>
          <a:xfrm>
            <a:off x="6080760" y="5632704"/>
            <a:ext cx="1371600" cy="274320"/>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countries</a:t>
            </a:r>
            <a:endParaRPr lang="en-US" sz="1150" dirty="0"/>
          </a:p>
        </p:txBody>
      </p:sp>
      <p:sp>
        <p:nvSpPr>
          <p:cNvPr id="12" name="Text 9"/>
          <p:cNvSpPr txBox="1"/>
          <p:nvPr/>
        </p:nvSpPr>
        <p:spPr>
          <a:xfrm>
            <a:off x="7269480" y="5532120"/>
            <a:ext cx="1005840" cy="411480"/>
          </a:xfrm>
          <a:prstGeom prst="rect">
            <a:avLst/>
          </a:prstGeom>
          <a:noFill/>
          <a:ln/>
        </p:spPr>
        <p:txBody>
          <a:bodyPr wrap="square" lIns="0" tIns="0" rIns="0" bIns="0" rtlCol="0" anchor="ctr"/>
          <a:lstStyle/>
          <a:p>
            <a:pPr marL="0" indent="0">
              <a:buNone/>
            </a:pPr>
            <a:r>
              <a:rPr lang="en-US" sz="2200" b="1" dirty="0">
                <a:solidFill>
                  <a:srgbClr val="FF7900"/>
                </a:solidFill>
                <a:latin typeface="Arial" pitchFamily="34" charset="0"/>
                <a:ea typeface="Arial" pitchFamily="34" charset="-122"/>
                <a:cs typeface="Arial" pitchFamily="34" charset="-120"/>
              </a:rPr>
              <a:t>150</a:t>
            </a:r>
            <a:endParaRPr lang="en-US" sz="2200" dirty="0"/>
          </a:p>
        </p:txBody>
      </p:sp>
      <p:sp>
        <p:nvSpPr>
          <p:cNvPr id="13" name="Text 10"/>
          <p:cNvSpPr txBox="1"/>
          <p:nvPr/>
        </p:nvSpPr>
        <p:spPr>
          <a:xfrm>
            <a:off x="8275320" y="5632704"/>
            <a:ext cx="1371600" cy="274320"/>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days median age</a:t>
            </a:r>
            <a:endParaRPr lang="en-US" sz="1150" dirty="0"/>
          </a:p>
        </p:txBody>
      </p:sp>
      <p:sp>
        <p:nvSpPr>
          <p:cNvPr id="14" name="Text 11"/>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IF YOU WANTED THIS RUNNING</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What it would take to run this for real</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It is a working system, not a prototype. Here is the honest shape of operating it</a:t>
            </a:r>
            <a:endParaRPr lang="en-US" sz="1450" dirty="0"/>
          </a:p>
        </p:txBody>
      </p:sp>
      <p:sp>
        <p:nvSpPr>
          <p:cNvPr id="5" name="Shape 3"/>
          <p:cNvSpPr/>
          <p:nvPr/>
        </p:nvSpPr>
        <p:spPr>
          <a:xfrm>
            <a:off x="685800" y="2194560"/>
            <a:ext cx="3383280" cy="2148840"/>
          </a:xfrm>
          <a:prstGeom prst="roundRect">
            <a:avLst>
              <a:gd name="adj" fmla="val 1702"/>
            </a:avLst>
          </a:prstGeom>
          <a:solidFill>
            <a:srgbClr val="F2F2F2"/>
          </a:solidFill>
          <a:ln w="9525">
            <a:solidFill>
              <a:srgbClr val="DDDDDD"/>
            </a:solidFill>
            <a:prstDash val="solid"/>
          </a:ln>
        </p:spPr>
        <p:txBody>
          <a:bodyPr/>
          <a:lstStyle/>
          <a:p>
            <a:endParaRPr lang="en-BE"/>
          </a:p>
        </p:txBody>
      </p:sp>
      <p:sp>
        <p:nvSpPr>
          <p:cNvPr id="6" name="Shape 4"/>
          <p:cNvSpPr/>
          <p:nvPr/>
        </p:nvSpPr>
        <p:spPr>
          <a:xfrm>
            <a:off x="960120" y="2487168"/>
            <a:ext cx="155448" cy="155448"/>
          </a:xfrm>
          <a:prstGeom prst="ellipse">
            <a:avLst/>
          </a:prstGeom>
          <a:solidFill>
            <a:srgbClr val="FF7900"/>
          </a:solidFill>
          <a:ln/>
        </p:spPr>
        <p:txBody>
          <a:bodyPr/>
          <a:lstStyle/>
          <a:p>
            <a:endParaRPr lang="en-BE"/>
          </a:p>
        </p:txBody>
      </p:sp>
      <p:sp>
        <p:nvSpPr>
          <p:cNvPr id="7" name="Text 5"/>
          <p:cNvSpPr txBox="1"/>
          <p:nvPr/>
        </p:nvSpPr>
        <p:spPr>
          <a:xfrm>
            <a:off x="1252728" y="2423160"/>
            <a:ext cx="2560320" cy="310896"/>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Cadence</a:t>
            </a:r>
            <a:endParaRPr lang="en-US" sz="1600" dirty="0"/>
          </a:p>
        </p:txBody>
      </p:sp>
      <p:sp>
        <p:nvSpPr>
          <p:cNvPr id="8" name="Text 6"/>
          <p:cNvSpPr txBox="1"/>
          <p:nvPr/>
        </p:nvSpPr>
        <p:spPr>
          <a:xfrm>
            <a:off x="960120" y="2889504"/>
            <a:ext cx="2834640" cy="1280160"/>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It runs when someone starts it today. Put it on a weekly schedule and it becomes a standing brief rather than a one-off study.</a:t>
            </a:r>
            <a:endParaRPr lang="en-US" sz="1200" dirty="0"/>
          </a:p>
        </p:txBody>
      </p:sp>
      <p:sp>
        <p:nvSpPr>
          <p:cNvPr id="9" name="Shape 7"/>
          <p:cNvSpPr/>
          <p:nvPr/>
        </p:nvSpPr>
        <p:spPr>
          <a:xfrm>
            <a:off x="4389120" y="2194560"/>
            <a:ext cx="3383280" cy="2148840"/>
          </a:xfrm>
          <a:prstGeom prst="roundRect">
            <a:avLst>
              <a:gd name="adj" fmla="val 1702"/>
            </a:avLst>
          </a:prstGeom>
          <a:solidFill>
            <a:srgbClr val="F2F2F2"/>
          </a:solidFill>
          <a:ln w="9525">
            <a:solidFill>
              <a:srgbClr val="DDDDDD"/>
            </a:solidFill>
            <a:prstDash val="solid"/>
          </a:ln>
        </p:spPr>
        <p:txBody>
          <a:bodyPr/>
          <a:lstStyle/>
          <a:p>
            <a:endParaRPr lang="en-BE"/>
          </a:p>
        </p:txBody>
      </p:sp>
      <p:sp>
        <p:nvSpPr>
          <p:cNvPr id="10" name="Shape 8"/>
          <p:cNvSpPr/>
          <p:nvPr/>
        </p:nvSpPr>
        <p:spPr>
          <a:xfrm>
            <a:off x="4663440" y="2487168"/>
            <a:ext cx="155448" cy="155448"/>
          </a:xfrm>
          <a:prstGeom prst="ellipse">
            <a:avLst/>
          </a:prstGeom>
          <a:solidFill>
            <a:srgbClr val="2A78D6"/>
          </a:solidFill>
          <a:ln/>
        </p:spPr>
        <p:txBody>
          <a:bodyPr/>
          <a:lstStyle/>
          <a:p>
            <a:endParaRPr lang="en-BE"/>
          </a:p>
        </p:txBody>
      </p:sp>
      <p:sp>
        <p:nvSpPr>
          <p:cNvPr id="11" name="Text 9"/>
          <p:cNvSpPr txBox="1"/>
          <p:nvPr/>
        </p:nvSpPr>
        <p:spPr>
          <a:xfrm>
            <a:off x="4956048" y="2423160"/>
            <a:ext cx="2560320" cy="310896"/>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Ownership</a:t>
            </a:r>
            <a:endParaRPr lang="en-US" sz="1600" dirty="0"/>
          </a:p>
        </p:txBody>
      </p:sp>
      <p:sp>
        <p:nvSpPr>
          <p:cNvPr id="12" name="Text 10"/>
          <p:cNvSpPr txBox="1"/>
          <p:nvPr/>
        </p:nvSpPr>
        <p:spPr>
          <a:xfrm>
            <a:off x="4663440" y="2889504"/>
            <a:ext cx="2834640" cy="1280160"/>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Someone on your side keeps the capability list current — what Orange sells, where. That is perhaps an hour a month, and it is what keeps the filter honest.</a:t>
            </a:r>
            <a:endParaRPr lang="en-US" sz="1200" dirty="0"/>
          </a:p>
        </p:txBody>
      </p:sp>
      <p:sp>
        <p:nvSpPr>
          <p:cNvPr id="13" name="Shape 11"/>
          <p:cNvSpPr/>
          <p:nvPr/>
        </p:nvSpPr>
        <p:spPr>
          <a:xfrm>
            <a:off x="8092440" y="2194560"/>
            <a:ext cx="3383280" cy="2148840"/>
          </a:xfrm>
          <a:prstGeom prst="roundRect">
            <a:avLst>
              <a:gd name="adj" fmla="val 1702"/>
            </a:avLst>
          </a:prstGeom>
          <a:solidFill>
            <a:srgbClr val="F2F2F2"/>
          </a:solidFill>
          <a:ln w="9525">
            <a:solidFill>
              <a:srgbClr val="DDDDDD"/>
            </a:solidFill>
            <a:prstDash val="solid"/>
          </a:ln>
        </p:spPr>
        <p:txBody>
          <a:bodyPr/>
          <a:lstStyle/>
          <a:p>
            <a:endParaRPr lang="en-BE"/>
          </a:p>
        </p:txBody>
      </p:sp>
      <p:sp>
        <p:nvSpPr>
          <p:cNvPr id="14" name="Shape 12"/>
          <p:cNvSpPr/>
          <p:nvPr/>
        </p:nvSpPr>
        <p:spPr>
          <a:xfrm>
            <a:off x="8366760" y="2487168"/>
            <a:ext cx="155448" cy="155448"/>
          </a:xfrm>
          <a:prstGeom prst="ellipse">
            <a:avLst/>
          </a:prstGeom>
          <a:solidFill>
            <a:srgbClr val="1BAF7A"/>
          </a:solidFill>
          <a:ln/>
        </p:spPr>
        <p:txBody>
          <a:bodyPr/>
          <a:lstStyle/>
          <a:p>
            <a:endParaRPr lang="en-BE"/>
          </a:p>
        </p:txBody>
      </p:sp>
      <p:sp>
        <p:nvSpPr>
          <p:cNvPr id="15" name="Text 13"/>
          <p:cNvSpPr txBox="1"/>
          <p:nvPr/>
        </p:nvSpPr>
        <p:spPr>
          <a:xfrm>
            <a:off x="8659368" y="2423160"/>
            <a:ext cx="2560320" cy="310896"/>
          </a:xfrm>
          <a:prstGeom prst="rect">
            <a:avLst/>
          </a:prstGeom>
          <a:noFill/>
          <a:ln/>
        </p:spPr>
        <p:txBody>
          <a:bodyPr wrap="square" lIns="0" tIns="0" rIns="0" bIns="0" rtlCol="0" anchor="t"/>
          <a:lstStyle/>
          <a:p>
            <a:pPr marL="0" indent="0">
              <a:buNone/>
            </a:pPr>
            <a:r>
              <a:rPr lang="en-US" sz="1600" b="1" dirty="0">
                <a:solidFill>
                  <a:srgbClr val="121212"/>
                </a:solidFill>
                <a:latin typeface="Arial" pitchFamily="34" charset="0"/>
                <a:ea typeface="Arial" pitchFamily="34" charset="-122"/>
                <a:cs typeface="Arial" pitchFamily="34" charset="-120"/>
              </a:rPr>
              <a:t>Cost shape</a:t>
            </a:r>
            <a:endParaRPr lang="en-US" sz="1600" dirty="0"/>
          </a:p>
        </p:txBody>
      </p:sp>
      <p:sp>
        <p:nvSpPr>
          <p:cNvPr id="16" name="Text 14"/>
          <p:cNvSpPr txBox="1"/>
          <p:nvPr/>
        </p:nvSpPr>
        <p:spPr>
          <a:xfrm>
            <a:off x="8366760" y="2889504"/>
            <a:ext cx="2834640" cy="1280160"/>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Cost follows the number of searches, not the number of articles. Related articles are written up together, once, rather than one at a time.</a:t>
            </a:r>
            <a:endParaRPr lang="en-US" sz="1200" dirty="0"/>
          </a:p>
        </p:txBody>
      </p:sp>
      <p:sp>
        <p:nvSpPr>
          <p:cNvPr id="17" name="Shape 15"/>
          <p:cNvSpPr/>
          <p:nvPr/>
        </p:nvSpPr>
        <p:spPr>
          <a:xfrm>
            <a:off x="685800" y="4681728"/>
            <a:ext cx="10789920" cy="1325880"/>
          </a:xfrm>
          <a:prstGeom prst="roundRect">
            <a:avLst>
              <a:gd name="adj" fmla="val 2759"/>
            </a:avLst>
          </a:prstGeom>
          <a:solidFill>
            <a:srgbClr val="FFF1E4"/>
          </a:solidFill>
          <a:ln w="9525">
            <a:solidFill>
              <a:srgbClr val="DDDDDD"/>
            </a:solidFill>
            <a:prstDash val="solid"/>
          </a:ln>
        </p:spPr>
        <p:txBody>
          <a:bodyPr/>
          <a:lstStyle/>
          <a:p>
            <a:endParaRPr lang="en-BE"/>
          </a:p>
        </p:txBody>
      </p:sp>
      <p:sp>
        <p:nvSpPr>
          <p:cNvPr id="18" name="Text 16"/>
          <p:cNvSpPr txBox="1"/>
          <p:nvPr/>
        </p:nvSpPr>
        <p:spPr>
          <a:xfrm>
            <a:off x="1005840" y="4892040"/>
            <a:ext cx="4572000" cy="292608"/>
          </a:xfrm>
          <a:prstGeom prst="rect">
            <a:avLst/>
          </a:prstGeom>
          <a:noFill/>
          <a:ln/>
        </p:spPr>
        <p:txBody>
          <a:bodyPr wrap="square" lIns="0" tIns="0" rIns="0" bIns="0" rtlCol="0" anchor="t"/>
          <a:lstStyle/>
          <a:p>
            <a:pPr marL="0" indent="0">
              <a:buNone/>
            </a:pPr>
            <a:r>
              <a:rPr lang="en-US" sz="1500" b="1" dirty="0">
                <a:solidFill>
                  <a:srgbClr val="121212"/>
                </a:solidFill>
                <a:latin typeface="Arial" pitchFamily="34" charset="0"/>
                <a:ea typeface="Arial" pitchFamily="34" charset="-122"/>
                <a:cs typeface="Arial" pitchFamily="34" charset="-120"/>
              </a:rPr>
              <a:t>The one thing we would build next</a:t>
            </a:r>
            <a:endParaRPr lang="en-US" sz="1500" dirty="0"/>
          </a:p>
        </p:txBody>
      </p:sp>
      <p:sp>
        <p:nvSpPr>
          <p:cNvPr id="19" name="Text 17"/>
          <p:cNvSpPr txBox="1"/>
          <p:nvPr/>
        </p:nvSpPr>
        <p:spPr>
          <a:xfrm>
            <a:off x="1005840" y="5266944"/>
            <a:ext cx="10149840" cy="603504"/>
          </a:xfrm>
          <a:prstGeom prst="rect">
            <a:avLst/>
          </a:prstGeom>
          <a:noFill/>
          <a:ln/>
        </p:spPr>
        <p:txBody>
          <a:bodyPr wrap="square" lIns="0" tIns="0" rIns="0" bIns="0" rtlCol="0" anchor="t"/>
          <a:lstStyle/>
          <a:p>
            <a:pPr marL="0" indent="0">
              <a:lnSpc>
                <a:spcPts val="1700"/>
              </a:lnSpc>
              <a:buNone/>
            </a:pPr>
            <a:r>
              <a:rPr lang="en-US" sz="1250" dirty="0">
                <a:solidFill>
                  <a:srgbClr val="3A3A3A"/>
                </a:solidFill>
                <a:latin typeface="Calibri" pitchFamily="34" charset="0"/>
                <a:ea typeface="Calibri" pitchFamily="34" charset="-122"/>
                <a:cs typeface="Calibri" pitchFamily="34" charset="-120"/>
              </a:rPr>
              <a:t>Memory between runs. Today each run is a fresh picture. Once it remembers the last one, it can tell you what is new this week and what is climbing — which is the difference between a study and a radar.</a:t>
            </a:r>
            <a:endParaRPr lang="en-US" sz="1250" dirty="0"/>
          </a:p>
        </p:txBody>
      </p:sp>
      <p:sp>
        <p:nvSpPr>
          <p:cNvPr id="20" name="Text 18"/>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IF THIS CONTINUED</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What we would do next</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Ordered by what changes the output most, not by what is easiest</a:t>
            </a:r>
            <a:endParaRPr lang="en-US" sz="1450" dirty="0"/>
          </a:p>
        </p:txBody>
      </p:sp>
      <p:sp>
        <p:nvSpPr>
          <p:cNvPr id="5" name="Shape 3"/>
          <p:cNvSpPr/>
          <p:nvPr/>
        </p:nvSpPr>
        <p:spPr>
          <a:xfrm>
            <a:off x="713232" y="2212848"/>
            <a:ext cx="475488" cy="475488"/>
          </a:xfrm>
          <a:prstGeom prst="ellipse">
            <a:avLst/>
          </a:prstGeom>
          <a:solidFill>
            <a:srgbClr val="FF7900"/>
          </a:solidFill>
          <a:ln/>
        </p:spPr>
        <p:txBody>
          <a:bodyPr/>
          <a:lstStyle/>
          <a:p>
            <a:endParaRPr lang="en-BE"/>
          </a:p>
        </p:txBody>
      </p:sp>
      <p:sp>
        <p:nvSpPr>
          <p:cNvPr id="6" name="Text 4"/>
          <p:cNvSpPr txBox="1"/>
          <p:nvPr/>
        </p:nvSpPr>
        <p:spPr>
          <a:xfrm>
            <a:off x="713232" y="225399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389888" y="2212848"/>
            <a:ext cx="3291840" cy="68580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Close the vertical vocabulary</a:t>
            </a:r>
            <a:endParaRPr lang="en-US" sz="1350" dirty="0"/>
          </a:p>
        </p:txBody>
      </p:sp>
      <p:sp>
        <p:nvSpPr>
          <p:cNvPr id="8" name="Text 6"/>
          <p:cNvSpPr txBox="1"/>
          <p:nvPr/>
        </p:nvSpPr>
        <p:spPr>
          <a:xfrm>
            <a:off x="4846320" y="2212848"/>
            <a:ext cx="6629400" cy="71323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Validate the model's answer against a fixed list and reject off-list values, instead of asking politely in the prompt. Fixes the taxonomy at source.</a:t>
            </a:r>
            <a:endParaRPr lang="en-US" sz="1200" dirty="0"/>
          </a:p>
        </p:txBody>
      </p:sp>
      <p:sp>
        <p:nvSpPr>
          <p:cNvPr id="9" name="Shape 7"/>
          <p:cNvSpPr/>
          <p:nvPr/>
        </p:nvSpPr>
        <p:spPr>
          <a:xfrm>
            <a:off x="713232" y="3035808"/>
            <a:ext cx="475488" cy="475488"/>
          </a:xfrm>
          <a:prstGeom prst="ellipse">
            <a:avLst/>
          </a:prstGeom>
          <a:solidFill>
            <a:srgbClr val="2A78D6"/>
          </a:solidFill>
          <a:ln/>
        </p:spPr>
        <p:txBody>
          <a:bodyPr/>
          <a:lstStyle/>
          <a:p>
            <a:endParaRPr lang="en-BE"/>
          </a:p>
        </p:txBody>
      </p:sp>
      <p:sp>
        <p:nvSpPr>
          <p:cNvPr id="10" name="Text 8"/>
          <p:cNvSpPr txBox="1"/>
          <p:nvPr/>
        </p:nvSpPr>
        <p:spPr>
          <a:xfrm>
            <a:off x="713232" y="307695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389888" y="3035808"/>
            <a:ext cx="3291840" cy="68580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Recompute scores after a merge</a:t>
            </a:r>
            <a:endParaRPr lang="en-US" sz="1350" dirty="0"/>
          </a:p>
        </p:txBody>
      </p:sp>
      <p:sp>
        <p:nvSpPr>
          <p:cNvPr id="12" name="Text 10"/>
          <p:cNvSpPr txBox="1"/>
          <p:nvPr/>
        </p:nvSpPr>
        <p:spPr>
          <a:xfrm>
            <a:off x="4846320" y="3035808"/>
            <a:ext cx="6629400" cy="71323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When two opportunities merge, the evidence set grows but the scores currently do not follow. One row in seven is affected today; at fifty it becomes systematic.</a:t>
            </a:r>
            <a:endParaRPr lang="en-US" sz="1200" dirty="0"/>
          </a:p>
        </p:txBody>
      </p:sp>
      <p:sp>
        <p:nvSpPr>
          <p:cNvPr id="13" name="Shape 11"/>
          <p:cNvSpPr/>
          <p:nvPr/>
        </p:nvSpPr>
        <p:spPr>
          <a:xfrm>
            <a:off x="713232" y="3858768"/>
            <a:ext cx="475488" cy="475488"/>
          </a:xfrm>
          <a:prstGeom prst="ellipse">
            <a:avLst/>
          </a:prstGeom>
          <a:solidFill>
            <a:srgbClr val="4A3AA7"/>
          </a:solidFill>
          <a:ln/>
        </p:spPr>
        <p:txBody>
          <a:bodyPr/>
          <a:lstStyle/>
          <a:p>
            <a:endParaRPr lang="en-BE"/>
          </a:p>
        </p:txBody>
      </p:sp>
      <p:sp>
        <p:nvSpPr>
          <p:cNvPr id="14" name="Text 12"/>
          <p:cNvSpPr txBox="1"/>
          <p:nvPr/>
        </p:nvSpPr>
        <p:spPr>
          <a:xfrm>
            <a:off x="713232" y="389991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389888" y="3858768"/>
            <a:ext cx="3291840" cy="68580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Real persona tagging</a:t>
            </a:r>
            <a:endParaRPr lang="en-US" sz="1350" dirty="0"/>
          </a:p>
        </p:txBody>
      </p:sp>
      <p:sp>
        <p:nvSpPr>
          <p:cNvPr id="16" name="Text 14"/>
          <p:cNvSpPr txBox="1"/>
          <p:nvPr/>
        </p:nvSpPr>
        <p:spPr>
          <a:xfrm>
            <a:off x="4846320" y="3858768"/>
            <a:ext cx="6629400" cy="71323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Add the join table back and have the model tag each opportunity, so the three audiences get a genuine cut rather than a rule of thumb.</a:t>
            </a:r>
            <a:endParaRPr lang="en-US" sz="1200" dirty="0"/>
          </a:p>
        </p:txBody>
      </p:sp>
      <p:sp>
        <p:nvSpPr>
          <p:cNvPr id="17" name="Shape 15"/>
          <p:cNvSpPr/>
          <p:nvPr/>
        </p:nvSpPr>
        <p:spPr>
          <a:xfrm>
            <a:off x="713232" y="4681728"/>
            <a:ext cx="475488" cy="475488"/>
          </a:xfrm>
          <a:prstGeom prst="ellipse">
            <a:avLst/>
          </a:prstGeom>
          <a:solidFill>
            <a:srgbClr val="1BAF7A"/>
          </a:solidFill>
          <a:ln/>
        </p:spPr>
        <p:txBody>
          <a:bodyPr/>
          <a:lstStyle/>
          <a:p>
            <a:endParaRPr lang="en-BE"/>
          </a:p>
        </p:txBody>
      </p:sp>
      <p:sp>
        <p:nvSpPr>
          <p:cNvPr id="18" name="Text 16"/>
          <p:cNvSpPr txBox="1"/>
          <p:nvPr/>
        </p:nvSpPr>
        <p:spPr>
          <a:xfrm>
            <a:off x="713232" y="472287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389888" y="4681728"/>
            <a:ext cx="3291840" cy="68580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Put the agent on a schedule</a:t>
            </a:r>
            <a:endParaRPr lang="en-US" sz="1350" dirty="0"/>
          </a:p>
        </p:txBody>
      </p:sp>
      <p:sp>
        <p:nvSpPr>
          <p:cNvPr id="20" name="Text 18"/>
          <p:cNvSpPr txBox="1"/>
          <p:nvPr/>
        </p:nvSpPr>
        <p:spPr>
          <a:xfrm>
            <a:off x="4846320" y="4681728"/>
            <a:ext cx="6629400" cy="71323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It runs on demand today. Daily or weekly collection is what turns this from a snapshot into a radar.</a:t>
            </a:r>
            <a:endParaRPr lang="en-US" sz="1200" dirty="0"/>
          </a:p>
        </p:txBody>
      </p:sp>
      <p:sp>
        <p:nvSpPr>
          <p:cNvPr id="21" name="Shape 19"/>
          <p:cNvSpPr/>
          <p:nvPr/>
        </p:nvSpPr>
        <p:spPr>
          <a:xfrm>
            <a:off x="713232" y="5504688"/>
            <a:ext cx="475488" cy="475488"/>
          </a:xfrm>
          <a:prstGeom prst="ellipse">
            <a:avLst/>
          </a:prstGeom>
          <a:solidFill>
            <a:srgbClr val="3A3A3A"/>
          </a:solidFill>
          <a:ln/>
        </p:spPr>
        <p:txBody>
          <a:bodyPr/>
          <a:lstStyle/>
          <a:p>
            <a:endParaRPr lang="en-BE"/>
          </a:p>
        </p:txBody>
      </p:sp>
      <p:sp>
        <p:nvSpPr>
          <p:cNvPr id="22" name="Text 20"/>
          <p:cNvSpPr txBox="1"/>
          <p:nvPr/>
        </p:nvSpPr>
        <p:spPr>
          <a:xfrm>
            <a:off x="713232" y="5545836"/>
            <a:ext cx="475488"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1389888" y="5504688"/>
            <a:ext cx="3291840" cy="68580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Tune clustering to land 10–20 spaces</a:t>
            </a:r>
            <a:endParaRPr lang="en-US" sz="1350" dirty="0"/>
          </a:p>
        </p:txBody>
      </p:sp>
      <p:sp>
        <p:nvSpPr>
          <p:cNvPr id="24" name="Text 22"/>
          <p:cNvSpPr txBox="1"/>
          <p:nvPr/>
        </p:nvSpPr>
        <p:spPr>
          <a:xfrm>
            <a:off x="4846320" y="5504688"/>
            <a:ext cx="6629400" cy="71323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The client said that is the range they would actually work with. That is a threshold to calibrate against, not a guess.</a:t>
            </a:r>
            <a:endParaRPr lang="en-US" sz="1200" dirty="0"/>
          </a:p>
        </p:txBody>
      </p:sp>
      <p:sp>
        <p:nvSpPr>
          <p:cNvPr id="25" name="Text 23"/>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WHERE THE EDGES ARE</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121212"/>
                </a:solidFill>
                <a:latin typeface="Arial" pitchFamily="34" charset="0"/>
                <a:ea typeface="Arial" pitchFamily="34" charset="-122"/>
                <a:cs typeface="Arial" pitchFamily="34" charset="-120"/>
              </a:rPr>
              <a:t>Honest limitations</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6E6E6E"/>
                </a:solidFill>
                <a:latin typeface="Calibri" pitchFamily="34" charset="0"/>
                <a:ea typeface="Calibri" pitchFamily="34" charset="-122"/>
                <a:cs typeface="Calibri" pitchFamily="34" charset="-120"/>
              </a:rPr>
              <a:t>Four things to know before you rely on it. Each one is a dial you can turn, not a flaw you are stuck with</a:t>
            </a:r>
            <a:endParaRPr lang="en-US" sz="1450" dirty="0"/>
          </a:p>
        </p:txBody>
      </p:sp>
      <p:sp>
        <p:nvSpPr>
          <p:cNvPr id="5" name="Shape 3"/>
          <p:cNvSpPr/>
          <p:nvPr/>
        </p:nvSpPr>
        <p:spPr>
          <a:xfrm>
            <a:off x="685800" y="2084832"/>
            <a:ext cx="10789920" cy="10058"/>
          </a:xfrm>
          <a:prstGeom prst="rect">
            <a:avLst/>
          </a:prstGeom>
          <a:solidFill>
            <a:srgbClr val="DDDDDD"/>
          </a:solidFill>
          <a:ln/>
        </p:spPr>
        <p:txBody>
          <a:bodyPr/>
          <a:lstStyle/>
          <a:p>
            <a:endParaRPr lang="en-BE"/>
          </a:p>
        </p:txBody>
      </p:sp>
      <p:sp>
        <p:nvSpPr>
          <p:cNvPr id="6" name="Text 4"/>
          <p:cNvSpPr txBox="1"/>
          <p:nvPr/>
        </p:nvSpPr>
        <p:spPr>
          <a:xfrm>
            <a:off x="685800" y="2194560"/>
            <a:ext cx="3657600" cy="73152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Seven, not fifty — on purpose</a:t>
            </a:r>
            <a:endParaRPr lang="en-US" sz="1350" dirty="0"/>
          </a:p>
        </p:txBody>
      </p:sp>
      <p:sp>
        <p:nvSpPr>
          <p:cNvPr id="7" name="Text 5"/>
          <p:cNvSpPr txBox="1"/>
          <p:nvPr/>
        </p:nvSpPr>
        <p:spPr>
          <a:xfrm>
            <a:off x="4572000" y="2194560"/>
            <a:ext cx="6903720" cy="80467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We set the bar at three independent sources that agree. Lower it and you get more opportunities with thinner evidence behind each one. That is a dial, and it is yours to set — you told us ten to twenty is the range you would actually work with.</a:t>
            </a:r>
            <a:endParaRPr lang="en-US" sz="1200" dirty="0"/>
          </a:p>
        </p:txBody>
      </p:sp>
      <p:sp>
        <p:nvSpPr>
          <p:cNvPr id="8" name="Shape 6"/>
          <p:cNvSpPr/>
          <p:nvPr/>
        </p:nvSpPr>
        <p:spPr>
          <a:xfrm>
            <a:off x="685800" y="3017520"/>
            <a:ext cx="10789920" cy="10058"/>
          </a:xfrm>
          <a:prstGeom prst="rect">
            <a:avLst/>
          </a:prstGeom>
          <a:solidFill>
            <a:srgbClr val="DDDDDD"/>
          </a:solidFill>
          <a:ln/>
        </p:spPr>
        <p:txBody>
          <a:bodyPr/>
          <a:lstStyle/>
          <a:p>
            <a:endParaRPr lang="en-BE"/>
          </a:p>
        </p:txBody>
      </p:sp>
      <p:sp>
        <p:nvSpPr>
          <p:cNvPr id="9" name="Text 7"/>
          <p:cNvSpPr txBox="1"/>
          <p:nvPr/>
        </p:nvSpPr>
        <p:spPr>
          <a:xfrm>
            <a:off x="685800" y="3127248"/>
            <a:ext cx="3657600" cy="73152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What we look for shapes what we find</a:t>
            </a:r>
            <a:endParaRPr lang="en-US" sz="1350" dirty="0"/>
          </a:p>
        </p:txBody>
      </p:sp>
      <p:sp>
        <p:nvSpPr>
          <p:cNvPr id="10" name="Text 8"/>
          <p:cNvSpPr txBox="1"/>
          <p:nvPr/>
        </p:nvSpPr>
        <p:spPr>
          <a:xfrm>
            <a:off x="4572000" y="3127248"/>
            <a:ext cx="6903720" cy="80467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The system searches the themes it was told to search. Add cybersecurity as a theme and cybersecurity opportunities appear. It is steerable by design, which means it needs steering.</a:t>
            </a:r>
            <a:endParaRPr lang="en-US" sz="1200" dirty="0"/>
          </a:p>
        </p:txBody>
      </p:sp>
      <p:sp>
        <p:nvSpPr>
          <p:cNvPr id="11" name="Shape 9"/>
          <p:cNvSpPr/>
          <p:nvPr/>
        </p:nvSpPr>
        <p:spPr>
          <a:xfrm>
            <a:off x="685800" y="3950208"/>
            <a:ext cx="10789920" cy="10058"/>
          </a:xfrm>
          <a:prstGeom prst="rect">
            <a:avLst/>
          </a:prstGeom>
          <a:solidFill>
            <a:srgbClr val="DDDDDD"/>
          </a:solidFill>
          <a:ln/>
        </p:spPr>
        <p:txBody>
          <a:bodyPr/>
          <a:lstStyle/>
          <a:p>
            <a:endParaRPr lang="en-BE"/>
          </a:p>
        </p:txBody>
      </p:sp>
      <p:sp>
        <p:nvSpPr>
          <p:cNvPr id="12" name="Text 10"/>
          <p:cNvSpPr txBox="1"/>
          <p:nvPr/>
        </p:nvSpPr>
        <p:spPr>
          <a:xfrm>
            <a:off x="685800" y="4059936"/>
            <a:ext cx="3657600" cy="73152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The capability check needs your input</a:t>
            </a:r>
            <a:endParaRPr lang="en-US" sz="1350" dirty="0"/>
          </a:p>
        </p:txBody>
      </p:sp>
      <p:sp>
        <p:nvSpPr>
          <p:cNvPr id="13" name="Text 11"/>
          <p:cNvSpPr txBox="1"/>
          <p:nvPr/>
        </p:nvSpPr>
        <p:spPr>
          <a:xfrm>
            <a:off x="4572000" y="4059936"/>
            <a:ext cx="6903720" cy="80467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It compares each opportunity against what Orange already sells. We built that list from public sources and dated it. Keeping it current is the one thing only you can do.</a:t>
            </a:r>
            <a:endParaRPr lang="en-US" sz="1200" dirty="0"/>
          </a:p>
        </p:txBody>
      </p:sp>
      <p:sp>
        <p:nvSpPr>
          <p:cNvPr id="14" name="Shape 12"/>
          <p:cNvSpPr/>
          <p:nvPr/>
        </p:nvSpPr>
        <p:spPr>
          <a:xfrm>
            <a:off x="685800" y="4882896"/>
            <a:ext cx="10789920" cy="10058"/>
          </a:xfrm>
          <a:prstGeom prst="rect">
            <a:avLst/>
          </a:prstGeom>
          <a:solidFill>
            <a:srgbClr val="DDDDDD"/>
          </a:solidFill>
          <a:ln/>
        </p:spPr>
        <p:txBody>
          <a:bodyPr/>
          <a:lstStyle/>
          <a:p>
            <a:endParaRPr lang="en-BE"/>
          </a:p>
        </p:txBody>
      </p:sp>
      <p:sp>
        <p:nvSpPr>
          <p:cNvPr id="15" name="Text 13"/>
          <p:cNvSpPr txBox="1"/>
          <p:nvPr/>
        </p:nvSpPr>
        <p:spPr>
          <a:xfrm>
            <a:off x="685800" y="4992624"/>
            <a:ext cx="3657600" cy="731520"/>
          </a:xfrm>
          <a:prstGeom prst="rect">
            <a:avLst/>
          </a:prstGeom>
          <a:noFill/>
          <a:ln/>
        </p:spPr>
        <p:txBody>
          <a:bodyPr wrap="square" lIns="0" tIns="0" rIns="0" bIns="0" rtlCol="0" anchor="t"/>
          <a:lstStyle/>
          <a:p>
            <a:pPr marL="0" indent="0">
              <a:lnSpc>
                <a:spcPts val="1700"/>
              </a:lnSpc>
              <a:buNone/>
            </a:pPr>
            <a:r>
              <a:rPr lang="en-US" sz="1350" b="1" dirty="0">
                <a:solidFill>
                  <a:srgbClr val="121212"/>
                </a:solidFill>
                <a:latin typeface="Arial" pitchFamily="34" charset="0"/>
                <a:ea typeface="Arial" pitchFamily="34" charset="-122"/>
                <a:cs typeface="Arial" pitchFamily="34" charset="-120"/>
              </a:rPr>
              <a:t>The three team views are still rules of thumb</a:t>
            </a:r>
            <a:endParaRPr lang="en-US" sz="1350" dirty="0"/>
          </a:p>
        </p:txBody>
      </p:sp>
      <p:sp>
        <p:nvSpPr>
          <p:cNvPr id="16" name="Text 14"/>
          <p:cNvSpPr txBox="1"/>
          <p:nvPr/>
        </p:nvSpPr>
        <p:spPr>
          <a:xfrm>
            <a:off x="4572000" y="4992624"/>
            <a:ext cx="6903720" cy="804672"/>
          </a:xfrm>
          <a:prstGeom prst="rect">
            <a:avLst/>
          </a:prstGeom>
          <a:noFill/>
          <a:ln/>
        </p:spPr>
        <p:txBody>
          <a:bodyPr wrap="square" lIns="0" tIns="0" rIns="0" bIns="0" rtlCol="0" anchor="t"/>
          <a:lstStyle/>
          <a:p>
            <a:pPr marL="0" indent="0">
              <a:lnSpc>
                <a:spcPts val="1600"/>
              </a:lnSpc>
              <a:buNone/>
            </a:pPr>
            <a:r>
              <a:rPr lang="en-US" sz="1200" dirty="0">
                <a:solidFill>
                  <a:srgbClr val="3A3A3A"/>
                </a:solidFill>
                <a:latin typeface="Calibri" pitchFamily="34" charset="0"/>
                <a:ea typeface="Calibri" pitchFamily="34" charset="-122"/>
                <a:cs typeface="Calibri" pitchFamily="34" charset="-120"/>
              </a:rPr>
              <a:t>Strategy, sales and presales currently get sensible rules of thumb rather than a tailored cut. Making them real is one more build step, not a redesign.</a:t>
            </a:r>
            <a:endParaRPr lang="en-US" sz="1200" dirty="0"/>
          </a:p>
        </p:txBody>
      </p:sp>
      <p:sp>
        <p:nvSpPr>
          <p:cNvPr id="17" name="Shape 15"/>
          <p:cNvSpPr/>
          <p:nvPr/>
        </p:nvSpPr>
        <p:spPr>
          <a:xfrm>
            <a:off x="685800" y="5815584"/>
            <a:ext cx="10789920" cy="10058"/>
          </a:xfrm>
          <a:prstGeom prst="rect">
            <a:avLst/>
          </a:prstGeom>
          <a:solidFill>
            <a:srgbClr val="DDDDDD"/>
          </a:solidFill>
          <a:ln/>
        </p:spPr>
        <p:txBody>
          <a:bodyPr/>
          <a:lstStyle/>
          <a:p>
            <a:endParaRPr lang="en-BE"/>
          </a:p>
        </p:txBody>
      </p:sp>
      <p:sp>
        <p:nvSpPr>
          <p:cNvPr id="18" name="Text 16"/>
          <p:cNvSpPr txBox="1"/>
          <p:nvPr/>
        </p:nvSpPr>
        <p:spPr>
          <a:xfrm>
            <a:off x="685800" y="6144768"/>
            <a:ext cx="10789920" cy="365760"/>
          </a:xfrm>
          <a:prstGeom prst="rect">
            <a:avLst/>
          </a:prstGeom>
          <a:noFill/>
          <a:ln/>
        </p:spPr>
        <p:txBody>
          <a:bodyPr wrap="square" lIns="0" tIns="0" rIns="0" bIns="0" rtlCol="0" anchor="t"/>
          <a:lstStyle/>
          <a:p>
            <a:pPr marL="0" indent="0">
              <a:buNone/>
            </a:pPr>
            <a:r>
              <a:rPr lang="en-US" sz="1250" i="1" dirty="0">
                <a:solidFill>
                  <a:srgbClr val="2B2B2B"/>
                </a:solidFill>
                <a:latin typeface="Calibri" pitchFamily="34" charset="0"/>
                <a:ea typeface="Calibri" pitchFamily="34" charset="-122"/>
                <a:cs typeface="Calibri" pitchFamily="34" charset="-120"/>
              </a:rPr>
              <a:t>None of these are hidden in a footnote. Every one of them is written into the tool itself, on a page called “How it works”.</a:t>
            </a:r>
            <a:endParaRPr lang="en-US" sz="1250" dirty="0"/>
          </a:p>
        </p:txBody>
      </p:sp>
      <p:sp>
        <p:nvSpPr>
          <p:cNvPr id="19" name="Text 17"/>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B0B0B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7863840" y="1463040"/>
            <a:ext cx="4389120" cy="4389120"/>
          </a:xfrm>
          <a:prstGeom prst="ellipse">
            <a:avLst/>
          </a:prstGeom>
          <a:ln w="9525">
            <a:solidFill>
              <a:srgbClr val="242424"/>
            </a:solidFill>
            <a:prstDash val="solid"/>
          </a:ln>
        </p:spPr>
        <p:txBody>
          <a:bodyPr/>
          <a:lstStyle/>
          <a:p>
            <a:endParaRPr lang="en-BE"/>
          </a:p>
        </p:txBody>
      </p:sp>
      <p:sp>
        <p:nvSpPr>
          <p:cNvPr id="3" name="Shape 1"/>
          <p:cNvSpPr/>
          <p:nvPr/>
        </p:nvSpPr>
        <p:spPr>
          <a:xfrm>
            <a:off x="8609990" y="2209190"/>
            <a:ext cx="2896819" cy="2896819"/>
          </a:xfrm>
          <a:prstGeom prst="ellipse">
            <a:avLst/>
          </a:prstGeom>
          <a:ln w="9525">
            <a:solidFill>
              <a:srgbClr val="242424"/>
            </a:solidFill>
            <a:prstDash val="solid"/>
          </a:ln>
        </p:spPr>
        <p:txBody>
          <a:bodyPr/>
          <a:lstStyle/>
          <a:p>
            <a:endParaRPr lang="en-BE"/>
          </a:p>
        </p:txBody>
      </p:sp>
      <p:sp>
        <p:nvSpPr>
          <p:cNvPr id="4" name="Shape 2"/>
          <p:cNvSpPr/>
          <p:nvPr/>
        </p:nvSpPr>
        <p:spPr>
          <a:xfrm>
            <a:off x="9268358" y="2867558"/>
            <a:ext cx="1580083" cy="1580083"/>
          </a:xfrm>
          <a:prstGeom prst="ellipse">
            <a:avLst/>
          </a:prstGeom>
          <a:ln w="9525">
            <a:solidFill>
              <a:srgbClr val="242424"/>
            </a:solidFill>
            <a:prstDash val="solid"/>
          </a:ln>
        </p:spPr>
        <p:txBody>
          <a:bodyPr/>
          <a:lstStyle/>
          <a:p>
            <a:endParaRPr lang="en-BE"/>
          </a:p>
        </p:txBody>
      </p:sp>
      <p:sp>
        <p:nvSpPr>
          <p:cNvPr id="5" name="Text 3"/>
          <p:cNvSpPr txBox="1"/>
          <p:nvPr/>
        </p:nvSpPr>
        <p:spPr>
          <a:xfrm>
            <a:off x="822960" y="2651760"/>
            <a:ext cx="7315200" cy="320040"/>
          </a:xfrm>
          <a:prstGeom prst="rect">
            <a:avLst/>
          </a:prstGeom>
          <a:noFill/>
          <a:ln/>
        </p:spPr>
        <p:txBody>
          <a:bodyPr wrap="square" lIns="0" tIns="0" rIns="0" bIns="0" rtlCol="0" anchor="ctr"/>
          <a:lstStyle/>
          <a:p>
            <a:pPr marL="0" indent="0">
              <a:buNone/>
            </a:pPr>
            <a:r>
              <a:rPr lang="en-US" sz="1100" b="1" kern="0" spc="250" dirty="0">
                <a:solidFill>
                  <a:srgbClr val="FF7900"/>
                </a:solidFill>
                <a:latin typeface="Calibri" pitchFamily="34" charset="0"/>
                <a:ea typeface="Calibri" pitchFamily="34" charset="-122"/>
                <a:cs typeface="Calibri" pitchFamily="34" charset="-120"/>
              </a:rPr>
              <a:t>APPENDIX</a:t>
            </a:r>
            <a:endParaRPr lang="en-US" sz="1100" dirty="0"/>
          </a:p>
        </p:txBody>
      </p:sp>
      <p:sp>
        <p:nvSpPr>
          <p:cNvPr id="6" name="Text 4"/>
          <p:cNvSpPr txBox="1"/>
          <p:nvPr/>
        </p:nvSpPr>
        <p:spPr>
          <a:xfrm>
            <a:off x="822960" y="3063240"/>
            <a:ext cx="7863840" cy="822960"/>
          </a:xfrm>
          <a:prstGeom prst="rect">
            <a:avLst/>
          </a:prstGeom>
          <a:noFill/>
          <a:ln/>
        </p:spPr>
        <p:txBody>
          <a:bodyPr wrap="square" lIns="0" tIns="0" rIns="0" bIns="0" rtlCol="0" anchor="ctr"/>
          <a:lstStyle/>
          <a:p>
            <a:pPr marL="0" indent="0">
              <a:buNone/>
            </a:pPr>
            <a:r>
              <a:rPr lang="en-US" sz="4200" b="1" kern="0" spc="-100" dirty="0">
                <a:solidFill>
                  <a:srgbClr val="FFFFFF"/>
                </a:solidFill>
                <a:latin typeface="Arial" pitchFamily="34" charset="0"/>
                <a:ea typeface="Arial" pitchFamily="34" charset="-122"/>
                <a:cs typeface="Arial" pitchFamily="34" charset="-120"/>
              </a:rPr>
              <a:t>Under the hood</a:t>
            </a:r>
            <a:endParaRPr lang="en-US" sz="4200" dirty="0"/>
          </a:p>
        </p:txBody>
      </p:sp>
      <p:sp>
        <p:nvSpPr>
          <p:cNvPr id="7" name="Text 5"/>
          <p:cNvSpPr txBox="1"/>
          <p:nvPr/>
        </p:nvSpPr>
        <p:spPr>
          <a:xfrm>
            <a:off x="822960" y="3977640"/>
            <a:ext cx="6949440" cy="548640"/>
          </a:xfrm>
          <a:prstGeom prst="rect">
            <a:avLst/>
          </a:prstGeom>
          <a:noFill/>
          <a:ln/>
        </p:spPr>
        <p:txBody>
          <a:bodyPr wrap="square" lIns="0" tIns="0" rIns="0" bIns="0" rtlCol="0" anchor="ctr"/>
          <a:lstStyle/>
          <a:p>
            <a:pPr marL="0" indent="0">
              <a:lnSpc>
                <a:spcPts val="2100"/>
              </a:lnSpc>
              <a:buNone/>
            </a:pPr>
            <a:r>
              <a:rPr lang="en-US" sz="1500" dirty="0">
                <a:solidFill>
                  <a:srgbClr val="C9C9C9"/>
                </a:solidFill>
                <a:latin typeface="Calibri" pitchFamily="34" charset="0"/>
                <a:ea typeface="Calibri" pitchFamily="34" charset="-122"/>
                <a:cs typeface="Calibri" pitchFamily="34" charset="-120"/>
              </a:rPr>
              <a:t>Only if you want it. Everything from here on is how the system is built, rather than what it does for you.</a:t>
            </a:r>
            <a:endParaRPr lang="en-US" sz="1500" dirty="0"/>
          </a:p>
        </p:txBody>
      </p:sp>
      <p:sp>
        <p:nvSpPr>
          <p:cNvPr id="8" name="Text 6"/>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85800" y="256032"/>
            <a:ext cx="8229600" cy="256032"/>
          </a:xfrm>
          <a:prstGeom prst="rect">
            <a:avLst/>
          </a:prstGeom>
          <a:noFill/>
          <a:ln/>
        </p:spPr>
        <p:txBody>
          <a:bodyPr wrap="square" lIns="0" tIns="0" rIns="0" bIns="0" rtlCol="0" anchor="ctr"/>
          <a:lstStyle/>
          <a:p>
            <a:pPr marL="0" indent="0">
              <a:buNone/>
            </a:pPr>
            <a:r>
              <a:rPr lang="en-US" sz="1050" b="1" kern="0" spc="200" dirty="0">
                <a:solidFill>
                  <a:srgbClr val="FF7900"/>
                </a:solidFill>
                <a:latin typeface="Calibri" pitchFamily="34" charset="0"/>
                <a:ea typeface="Calibri" pitchFamily="34" charset="-122"/>
                <a:cs typeface="Calibri" pitchFamily="34" charset="-120"/>
              </a:rPr>
              <a:t>HOW IT IS BUILT</a:t>
            </a:r>
            <a:endParaRPr lang="en-US" sz="1050" dirty="0"/>
          </a:p>
        </p:txBody>
      </p:sp>
      <p:sp>
        <p:nvSpPr>
          <p:cNvPr id="3" name="Text 1"/>
          <p:cNvSpPr txBox="1"/>
          <p:nvPr/>
        </p:nvSpPr>
        <p:spPr>
          <a:xfrm>
            <a:off x="685800" y="566928"/>
            <a:ext cx="10789920" cy="868680"/>
          </a:xfrm>
          <a:prstGeom prst="rect">
            <a:avLst/>
          </a:prstGeom>
          <a:noFill/>
          <a:ln/>
        </p:spPr>
        <p:txBody>
          <a:bodyPr wrap="square" lIns="0" tIns="0" rIns="0" bIns="0" rtlCol="0" anchor="t"/>
          <a:lstStyle/>
          <a:p>
            <a:pPr marL="0" indent="0">
              <a:buNone/>
            </a:pPr>
            <a:r>
              <a:rPr lang="en-US" sz="3200" b="1" kern="0" spc="-50" dirty="0">
                <a:solidFill>
                  <a:srgbClr val="FFFFFF"/>
                </a:solidFill>
                <a:latin typeface="Arial" pitchFamily="34" charset="0"/>
                <a:ea typeface="Arial" pitchFamily="34" charset="-122"/>
                <a:cs typeface="Arial" pitchFamily="34" charset="-120"/>
              </a:rPr>
              <a:t>Everything on Azure, one system end to end</a:t>
            </a:r>
            <a:endParaRPr lang="en-US" sz="3200" dirty="0"/>
          </a:p>
        </p:txBody>
      </p:sp>
      <p:sp>
        <p:nvSpPr>
          <p:cNvPr id="4" name="Text 2"/>
          <p:cNvSpPr txBox="1"/>
          <p:nvPr/>
        </p:nvSpPr>
        <p:spPr>
          <a:xfrm>
            <a:off x="685800" y="1481328"/>
            <a:ext cx="10607040" cy="457200"/>
          </a:xfrm>
          <a:prstGeom prst="rect">
            <a:avLst/>
          </a:prstGeom>
          <a:noFill/>
          <a:ln/>
        </p:spPr>
        <p:txBody>
          <a:bodyPr wrap="square" lIns="0" tIns="0" rIns="0" bIns="0" rtlCol="0" anchor="t"/>
          <a:lstStyle/>
          <a:p>
            <a:pPr marL="0" indent="0">
              <a:buNone/>
            </a:pPr>
            <a:r>
              <a:rPr lang="en-US" sz="1450" dirty="0">
                <a:solidFill>
                  <a:srgbClr val="B8B8B8"/>
                </a:solidFill>
                <a:latin typeface="Calibri" pitchFamily="34" charset="0"/>
                <a:ea typeface="Calibri" pitchFamily="34" charset="-122"/>
                <a:cs typeface="Calibri" pitchFamily="34" charset="-120"/>
              </a:rPr>
              <a:t>Agent → database → dashboard, with no service in between that has to stay in sync</a:t>
            </a:r>
            <a:endParaRPr lang="en-US" sz="1450" dirty="0"/>
          </a:p>
        </p:txBody>
      </p:sp>
      <p:sp>
        <p:nvSpPr>
          <p:cNvPr id="5" name="Shape 3"/>
          <p:cNvSpPr/>
          <p:nvPr/>
        </p:nvSpPr>
        <p:spPr>
          <a:xfrm>
            <a:off x="685800" y="2377440"/>
            <a:ext cx="2487168" cy="2286000"/>
          </a:xfrm>
          <a:prstGeom prst="roundRect">
            <a:avLst>
              <a:gd name="adj" fmla="val 1600"/>
            </a:avLst>
          </a:prstGeom>
          <a:solidFill>
            <a:srgbClr val="1E1E1E"/>
          </a:solidFill>
          <a:ln w="9525">
            <a:solidFill>
              <a:srgbClr val="343434"/>
            </a:solidFill>
            <a:prstDash val="solid"/>
          </a:ln>
        </p:spPr>
        <p:txBody>
          <a:bodyPr/>
          <a:lstStyle/>
          <a:p>
            <a:endParaRPr lang="en-BE"/>
          </a:p>
        </p:txBody>
      </p:sp>
      <p:sp>
        <p:nvSpPr>
          <p:cNvPr id="6" name="Shape 4"/>
          <p:cNvSpPr/>
          <p:nvPr/>
        </p:nvSpPr>
        <p:spPr>
          <a:xfrm>
            <a:off x="941832" y="2651760"/>
            <a:ext cx="146304" cy="146304"/>
          </a:xfrm>
          <a:prstGeom prst="ellipse">
            <a:avLst/>
          </a:prstGeom>
          <a:solidFill>
            <a:srgbClr val="FF7900"/>
          </a:solidFill>
          <a:ln/>
        </p:spPr>
        <p:txBody>
          <a:bodyPr/>
          <a:lstStyle/>
          <a:p>
            <a:endParaRPr lang="en-BE"/>
          </a:p>
        </p:txBody>
      </p:sp>
      <p:sp>
        <p:nvSpPr>
          <p:cNvPr id="7" name="Text 5"/>
          <p:cNvSpPr txBox="1"/>
          <p:nvPr/>
        </p:nvSpPr>
        <p:spPr>
          <a:xfrm>
            <a:off x="941832" y="2926080"/>
            <a:ext cx="210312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Collection</a:t>
            </a:r>
            <a:endParaRPr lang="en-US" sz="1500" dirty="0"/>
          </a:p>
        </p:txBody>
      </p:sp>
      <p:sp>
        <p:nvSpPr>
          <p:cNvPr id="8" name="Text 6"/>
          <p:cNvSpPr txBox="1"/>
          <p:nvPr/>
        </p:nvSpPr>
        <p:spPr>
          <a:xfrm>
            <a:off x="941832" y="3291840"/>
            <a:ext cx="2103120" cy="1097280"/>
          </a:xfrm>
          <a:prstGeom prst="rect">
            <a:avLst/>
          </a:prstGeom>
          <a:noFill/>
          <a:ln/>
        </p:spPr>
        <p:txBody>
          <a:bodyPr wrap="square" lIns="0" tIns="0" rIns="0" bIns="0" rtlCol="0" anchor="ctr"/>
          <a:lstStyle/>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Azure AI Foundry agent</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Bing grounding</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strict JSON output</a:t>
            </a:r>
            <a:endParaRPr lang="en-US" sz="1150" dirty="0"/>
          </a:p>
        </p:txBody>
      </p:sp>
      <p:sp>
        <p:nvSpPr>
          <p:cNvPr id="9" name="Shape 7"/>
          <p:cNvSpPr/>
          <p:nvPr/>
        </p:nvSpPr>
        <p:spPr>
          <a:xfrm>
            <a:off x="3456432" y="2377440"/>
            <a:ext cx="2487168" cy="2286000"/>
          </a:xfrm>
          <a:prstGeom prst="roundRect">
            <a:avLst>
              <a:gd name="adj" fmla="val 1600"/>
            </a:avLst>
          </a:prstGeom>
          <a:solidFill>
            <a:srgbClr val="1E1E1E"/>
          </a:solidFill>
          <a:ln w="9525">
            <a:solidFill>
              <a:srgbClr val="343434"/>
            </a:solidFill>
            <a:prstDash val="solid"/>
          </a:ln>
        </p:spPr>
        <p:txBody>
          <a:bodyPr/>
          <a:lstStyle/>
          <a:p>
            <a:endParaRPr lang="en-BE"/>
          </a:p>
        </p:txBody>
      </p:sp>
      <p:sp>
        <p:nvSpPr>
          <p:cNvPr id="10" name="Shape 8"/>
          <p:cNvSpPr/>
          <p:nvPr/>
        </p:nvSpPr>
        <p:spPr>
          <a:xfrm>
            <a:off x="3712464" y="2651760"/>
            <a:ext cx="146304" cy="146304"/>
          </a:xfrm>
          <a:prstGeom prst="ellipse">
            <a:avLst/>
          </a:prstGeom>
          <a:solidFill>
            <a:srgbClr val="2A78D6"/>
          </a:solidFill>
          <a:ln/>
        </p:spPr>
        <p:txBody>
          <a:bodyPr/>
          <a:lstStyle/>
          <a:p>
            <a:endParaRPr lang="en-BE"/>
          </a:p>
        </p:txBody>
      </p:sp>
      <p:sp>
        <p:nvSpPr>
          <p:cNvPr id="11" name="Text 9"/>
          <p:cNvSpPr txBox="1"/>
          <p:nvPr/>
        </p:nvSpPr>
        <p:spPr>
          <a:xfrm>
            <a:off x="3712464" y="2926080"/>
            <a:ext cx="210312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Storage</a:t>
            </a:r>
            <a:endParaRPr lang="en-US" sz="1500" dirty="0"/>
          </a:p>
        </p:txBody>
      </p:sp>
      <p:sp>
        <p:nvSpPr>
          <p:cNvPr id="12" name="Text 10"/>
          <p:cNvSpPr txBox="1"/>
          <p:nvPr/>
        </p:nvSpPr>
        <p:spPr>
          <a:xfrm>
            <a:off x="3712464" y="3291840"/>
            <a:ext cx="2103120" cy="1097280"/>
          </a:xfrm>
          <a:prstGeom prst="rect">
            <a:avLst/>
          </a:prstGeom>
          <a:noFill/>
          <a:ln/>
        </p:spPr>
        <p:txBody>
          <a:bodyPr wrap="square" lIns="0" tIns="0" rIns="0" bIns="0" rtlCol="0" anchor="ctr"/>
          <a:lstStyle/>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Azure SQL Database</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signals · opportunity_spaces</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plus a join table</a:t>
            </a:r>
            <a:endParaRPr lang="en-US" sz="1150" dirty="0"/>
          </a:p>
        </p:txBody>
      </p:sp>
      <p:sp>
        <p:nvSpPr>
          <p:cNvPr id="13" name="Shape 11"/>
          <p:cNvSpPr/>
          <p:nvPr/>
        </p:nvSpPr>
        <p:spPr>
          <a:xfrm>
            <a:off x="6227064" y="2377440"/>
            <a:ext cx="2487168" cy="2286000"/>
          </a:xfrm>
          <a:prstGeom prst="roundRect">
            <a:avLst>
              <a:gd name="adj" fmla="val 1600"/>
            </a:avLst>
          </a:prstGeom>
          <a:solidFill>
            <a:srgbClr val="1E1E1E"/>
          </a:solidFill>
          <a:ln w="9525">
            <a:solidFill>
              <a:srgbClr val="343434"/>
            </a:solidFill>
            <a:prstDash val="solid"/>
          </a:ln>
        </p:spPr>
        <p:txBody>
          <a:bodyPr/>
          <a:lstStyle/>
          <a:p>
            <a:endParaRPr lang="en-BE"/>
          </a:p>
        </p:txBody>
      </p:sp>
      <p:sp>
        <p:nvSpPr>
          <p:cNvPr id="14" name="Shape 12"/>
          <p:cNvSpPr/>
          <p:nvPr/>
        </p:nvSpPr>
        <p:spPr>
          <a:xfrm>
            <a:off x="6483096" y="2651760"/>
            <a:ext cx="146304" cy="146304"/>
          </a:xfrm>
          <a:prstGeom prst="ellipse">
            <a:avLst/>
          </a:prstGeom>
          <a:solidFill>
            <a:srgbClr val="1BAF7A"/>
          </a:solidFill>
          <a:ln/>
        </p:spPr>
        <p:txBody>
          <a:bodyPr/>
          <a:lstStyle/>
          <a:p>
            <a:endParaRPr lang="en-BE"/>
          </a:p>
        </p:txBody>
      </p:sp>
      <p:sp>
        <p:nvSpPr>
          <p:cNvPr id="15" name="Text 13"/>
          <p:cNvSpPr txBox="1"/>
          <p:nvPr/>
        </p:nvSpPr>
        <p:spPr>
          <a:xfrm>
            <a:off x="6483096" y="2926080"/>
            <a:ext cx="210312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Meaning</a:t>
            </a:r>
            <a:endParaRPr lang="en-US" sz="1500" dirty="0"/>
          </a:p>
        </p:txBody>
      </p:sp>
      <p:sp>
        <p:nvSpPr>
          <p:cNvPr id="16" name="Text 14"/>
          <p:cNvSpPr txBox="1"/>
          <p:nvPr/>
        </p:nvSpPr>
        <p:spPr>
          <a:xfrm>
            <a:off x="6483096" y="3291840"/>
            <a:ext cx="2103120" cy="1097280"/>
          </a:xfrm>
          <a:prstGeom prst="rect">
            <a:avLst/>
          </a:prstGeom>
          <a:noFill/>
          <a:ln/>
        </p:spPr>
        <p:txBody>
          <a:bodyPr wrap="square" lIns="0" tIns="0" rIns="0" bIns="0" rtlCol="0" anchor="ctr"/>
          <a:lstStyle/>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text-embedding-3-large</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VECTOR(1536) in-table</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cosine similarity in SQL</a:t>
            </a:r>
            <a:endParaRPr lang="en-US" sz="1150" dirty="0"/>
          </a:p>
        </p:txBody>
      </p:sp>
      <p:sp>
        <p:nvSpPr>
          <p:cNvPr id="17" name="Shape 15"/>
          <p:cNvSpPr/>
          <p:nvPr/>
        </p:nvSpPr>
        <p:spPr>
          <a:xfrm>
            <a:off x="8997696" y="2377440"/>
            <a:ext cx="2487168" cy="2286000"/>
          </a:xfrm>
          <a:prstGeom prst="roundRect">
            <a:avLst>
              <a:gd name="adj" fmla="val 1600"/>
            </a:avLst>
          </a:prstGeom>
          <a:solidFill>
            <a:srgbClr val="1E1E1E"/>
          </a:solidFill>
          <a:ln w="9525">
            <a:solidFill>
              <a:srgbClr val="343434"/>
            </a:solidFill>
            <a:prstDash val="solid"/>
          </a:ln>
        </p:spPr>
        <p:txBody>
          <a:bodyPr/>
          <a:lstStyle/>
          <a:p>
            <a:endParaRPr lang="en-BE"/>
          </a:p>
        </p:txBody>
      </p:sp>
      <p:sp>
        <p:nvSpPr>
          <p:cNvPr id="18" name="Shape 16"/>
          <p:cNvSpPr/>
          <p:nvPr/>
        </p:nvSpPr>
        <p:spPr>
          <a:xfrm>
            <a:off x="9253728" y="2651760"/>
            <a:ext cx="146304" cy="146304"/>
          </a:xfrm>
          <a:prstGeom prst="ellipse">
            <a:avLst/>
          </a:prstGeom>
          <a:solidFill>
            <a:srgbClr val="4A3AA7"/>
          </a:solidFill>
          <a:ln/>
        </p:spPr>
        <p:txBody>
          <a:bodyPr/>
          <a:lstStyle/>
          <a:p>
            <a:endParaRPr lang="en-BE"/>
          </a:p>
        </p:txBody>
      </p:sp>
      <p:sp>
        <p:nvSpPr>
          <p:cNvPr id="19" name="Text 17"/>
          <p:cNvSpPr txBox="1"/>
          <p:nvPr/>
        </p:nvSpPr>
        <p:spPr>
          <a:xfrm>
            <a:off x="9253728" y="2926080"/>
            <a:ext cx="210312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Interface</a:t>
            </a:r>
            <a:endParaRPr lang="en-US" sz="1500" dirty="0"/>
          </a:p>
        </p:txBody>
      </p:sp>
      <p:sp>
        <p:nvSpPr>
          <p:cNvPr id="20" name="Text 18"/>
          <p:cNvSpPr txBox="1"/>
          <p:nvPr/>
        </p:nvSpPr>
        <p:spPr>
          <a:xfrm>
            <a:off x="9253728" y="3291840"/>
            <a:ext cx="2103120" cy="1097280"/>
          </a:xfrm>
          <a:prstGeom prst="rect">
            <a:avLst/>
          </a:prstGeom>
          <a:noFill/>
          <a:ln/>
        </p:spPr>
        <p:txBody>
          <a:bodyPr wrap="square" lIns="0" tIns="0" rIns="0" bIns="0" rtlCol="0" anchor="ctr"/>
          <a:lstStyle/>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Streamlit, six pages</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live SQL, CSV fallback</a:t>
            </a:r>
            <a:endParaRPr lang="en-US" sz="1150" dirty="0"/>
          </a:p>
          <a:p>
            <a:pPr marL="0" indent="0">
              <a:lnSpc>
                <a:spcPts val="1600"/>
              </a:lnSpc>
              <a:buNone/>
            </a:pPr>
            <a:r>
              <a:rPr lang="en-US" sz="1150" dirty="0">
                <a:solidFill>
                  <a:srgbClr val="CFCFCF"/>
                </a:solidFill>
                <a:latin typeface="Calibri" pitchFamily="34" charset="0"/>
                <a:ea typeface="Calibri" pitchFamily="34" charset="-122"/>
                <a:cs typeface="Calibri" pitchFamily="34" charset="-120"/>
              </a:rPr>
              <a:t>so a demo never dies</a:t>
            </a:r>
            <a:endParaRPr lang="en-US" sz="1150" dirty="0"/>
          </a:p>
        </p:txBody>
      </p:sp>
      <p:sp>
        <p:nvSpPr>
          <p:cNvPr id="21" name="Text 19"/>
          <p:cNvSpPr txBox="1"/>
          <p:nvPr/>
        </p:nvSpPr>
        <p:spPr>
          <a:xfrm>
            <a:off x="685800" y="5120640"/>
            <a:ext cx="10789920" cy="457200"/>
          </a:xfrm>
          <a:prstGeom prst="rect">
            <a:avLst/>
          </a:prstGeom>
          <a:noFill/>
          <a:ln/>
        </p:spPr>
        <p:txBody>
          <a:bodyPr wrap="square" lIns="0" tIns="0" rIns="0" bIns="0" rtlCol="0" anchor="t"/>
          <a:lstStyle/>
          <a:p>
            <a:pPr marL="0" indent="0">
              <a:lnSpc>
                <a:spcPts val="1800"/>
              </a:lnSpc>
              <a:buNone/>
            </a:pPr>
            <a:r>
              <a:rPr lang="en-US" sz="1350" dirty="0">
                <a:solidFill>
                  <a:srgbClr val="C9C9C9"/>
                </a:solidFill>
                <a:latin typeface="Calibri" pitchFamily="34" charset="0"/>
                <a:ea typeface="Calibri" pitchFamily="34" charset="-122"/>
                <a:cs typeface="Calibri" pitchFamily="34" charset="-120"/>
              </a:rPr>
              <a:t>Embeddings live in the signals table itself, so clustering and filtering are ordinary SQL — no second system to keep in sync.</a:t>
            </a:r>
            <a:endParaRPr lang="en-US" sz="1350" dirty="0"/>
          </a:p>
        </p:txBody>
      </p:sp>
      <p:sp>
        <p:nvSpPr>
          <p:cNvPr id="22" name="Text 20"/>
          <p:cNvSpPr txBox="1"/>
          <p:nvPr/>
        </p:nvSpPr>
        <p:spPr>
          <a:xfrm>
            <a:off x="11292840" y="6263640"/>
            <a:ext cx="54864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4241</Words>
  <Application>Microsoft Macintosh PowerPoint</Application>
  <PresentationFormat>Widescreen</PresentationFormat>
  <Paragraphs>256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Radar — Orange Business</dc:title>
  <dc:subject>PptxGenJS Presentation</dc:subject>
  <dc:creator>Gunay Bayramova, Victor Courtois, Mahalakshmi Palanivel, Anna Diacofotaki</dc:creator>
  <cp:lastModifiedBy>Gunay Bayramova</cp:lastModifiedBy>
  <cp:revision>2</cp:revision>
  <dcterms:created xsi:type="dcterms:W3CDTF">2026-08-27T07:08:07Z</dcterms:created>
  <dcterms:modified xsi:type="dcterms:W3CDTF">2026-08-27T11:39:37Z</dcterms:modified>
</cp:coreProperties>
</file>