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1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6340274-50B1-4DA7-9ADA-E795DD4E41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1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2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p5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6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p7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8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8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40cf7cce7_0_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f40cf7cce7_0_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g3f40cf7cce7_0_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40cf7cce7_0_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f40cf7cce7_0_2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g3f40cf7cce7_0_2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40cf7cce7_0_5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f40cf7cce7_0_5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g3f40cf7cce7_0_5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40cf7cce7_0_7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f40cf7cce7_0_7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g3f40cf7cce7_0_7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0cf7cce7_0_1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f40cf7cce7_0_12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g3f40cf7cce7_0_12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40cf7cce7_1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f40cf7cce7_1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g3f40cf7cce7_1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/>
          <p:nvPr/>
        </p:nvSpPr>
        <p:spPr>
          <a:xfrm>
            <a:off x="7498080" y="594360"/>
            <a:ext cx="5669280" cy="5669280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5"/>
          <p:cNvSpPr/>
          <p:nvPr/>
        </p:nvSpPr>
        <p:spPr>
          <a:xfrm>
            <a:off x="8291779" y="1388059"/>
            <a:ext cx="4081882" cy="4081882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5"/>
          <p:cNvSpPr/>
          <p:nvPr/>
        </p:nvSpPr>
        <p:spPr>
          <a:xfrm>
            <a:off x="9028786" y="2125066"/>
            <a:ext cx="2607869" cy="2607869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5"/>
          <p:cNvSpPr/>
          <p:nvPr/>
        </p:nvSpPr>
        <p:spPr>
          <a:xfrm>
            <a:off x="9709099" y="2805379"/>
            <a:ext cx="1247242" cy="1247242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10204704" y="3300984"/>
            <a:ext cx="256032" cy="25603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9189720" y="2670048"/>
            <a:ext cx="182880" cy="1828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11247120" y="4343400"/>
            <a:ext cx="146304" cy="146304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5"/>
          <p:cNvSpPr txBox="1"/>
          <p:nvPr/>
        </p:nvSpPr>
        <p:spPr>
          <a:xfrm>
            <a:off x="822960" y="1600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ORANGE BUSINESS  ·  BECODE AI &amp; DATA SCIENCE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822960" y="201168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 panose="020B0604020202020204"/>
              <a:buNone/>
            </a:pPr>
            <a:r>
              <a:rPr lang="en-US" sz="6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Innovation Radar</a:t>
            </a:r>
            <a:endParaRPr sz="6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822960" y="324612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9C9"/>
              </a:buClr>
              <a:buSzPts val="1600"/>
              <a:buFont typeface="Calibri" panose="020F0502020204030204"/>
              <a:buNone/>
            </a:pPr>
            <a:r>
              <a:rPr lang="en-US" sz="1600">
                <a:solidFill>
                  <a:srgbClr val="C9C9C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Finding the opportunity spaces worth your attention, </a:t>
            </a:r>
            <a:endParaRPr lang="en-US" sz="1600">
              <a:solidFill>
                <a:srgbClr val="C9C9C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9C9"/>
              </a:buClr>
              <a:buSzPts val="1600"/>
              <a:buFont typeface="Calibri" panose="020F0502020204030204"/>
              <a:buNone/>
            </a:pPr>
            <a:r>
              <a:rPr lang="en-US" sz="1600">
                <a:solidFill>
                  <a:srgbClr val="C9C9C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before your competitors act on them.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822960" y="5394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 panose="020F0502020204030204"/>
              <a:buNone/>
            </a:pPr>
            <a:r>
              <a:rPr lang="en-US" sz="125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Gunay Bayramova  ·  Victor Courtois  ·  Mahalakshmi Palanivel  ·  Anna Diacofotaki</a:t>
            </a:r>
            <a:endParaRPr sz="125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822960" y="5074920"/>
            <a:ext cx="25314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ORANGE BEACONS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8091105" y="4027598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4334445" y="4027599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537970" y="4030951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8071294" y="1749950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334446" y="1753957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537971" y="1761687"/>
            <a:ext cx="3456431" cy="166731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6858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PROCESS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685800" y="566928"/>
            <a:ext cx="6606822" cy="5055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 panose="020B0604020202020204"/>
              <a:buNone/>
            </a:pPr>
            <a:r>
              <a:rPr lang="en-US" sz="3200" b="1">
                <a:solidFill>
                  <a:srgbClr val="0C0C0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an article to an opportunity</a:t>
            </a:r>
            <a:endParaRPr sz="3200">
              <a:solidFill>
                <a:srgbClr val="0C0C0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775715" y="1906019"/>
            <a:ext cx="475488" cy="475488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775715" y="1947167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1379219" y="2028617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</a:rPr>
              <a:t>Collect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775714" y="2544971"/>
            <a:ext cx="3107035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Scans independent press, regulators and competitor announcements. Never an Orange-owned source.</a:t>
            </a:r>
            <a:endParaRPr lang="en-US" sz="1150">
              <a:solidFill>
                <a:srgbClr val="3A3A3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 b="1" i="1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Azure AI Foundry, Bing grounding</a:t>
            </a:r>
            <a:endParaRPr sz="115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5073395" y="2028617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Record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4469890" y="2544971"/>
            <a:ext cx="3082491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article kept with its publisher, date, market and a summary. Nothing is discarded.</a:t>
            </a:r>
            <a:endParaRPr lang="en-US" sz="1150">
              <a:solidFill>
                <a:srgbClr val="3A3A3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 panose="020F0502020204030204"/>
              <a:buNone/>
            </a:pPr>
            <a:r>
              <a:rPr lang="en-US" sz="115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Azure SQL database</a:t>
            </a:r>
            <a:endParaRPr lang="en-US" sz="115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8915400" y="2028617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8311896" y="2544971"/>
            <a:ext cx="295351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Articles about the same underlying story are grouped by meaning, not by matching keywords.</a:t>
            </a:r>
            <a:endParaRPr lang="en-US" sz="1150">
              <a:solidFill>
                <a:srgbClr val="3A3A3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 b="1" i="1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Similarity score of embedded summaries</a:t>
            </a:r>
            <a:endParaRPr sz="115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379219" y="434825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Filter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775715" y="4864608"/>
            <a:ext cx="310703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Checked against what Orange already sells, in the markets Orange already covers.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5073395" y="434825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Score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4469891" y="4864608"/>
            <a:ext cx="298094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Five metrics — four measured from the evidence, one judged — combined into one number.</a:t>
            </a:r>
            <a:endParaRPr lang="en-US" sz="1150">
              <a:solidFill>
                <a:srgbClr val="3A3A3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 b="1" i="1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Signal market, diversity, evidence, urgency, strategy</a:t>
            </a:r>
            <a:endParaRPr sz="115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8915400" y="434825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Arial" panose="020B0604020202020204"/>
              <a:buNone/>
            </a:pPr>
            <a:r>
              <a:rPr lang="en-US" sz="16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Deliver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8311896" y="4864608"/>
            <a:ext cx="295351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ranked shortlist, each opportunity linked back to the exact articles behind it.</a:t>
            </a:r>
            <a:endParaRPr lang="en-US" sz="1150">
              <a:solidFill>
                <a:srgbClr val="3A3A3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 panose="020F0502020204030204"/>
              <a:buNone/>
            </a:pPr>
            <a:r>
              <a:rPr lang="en-US" sz="1150" b="1" i="1">
                <a:solidFill>
                  <a:srgbClr val="3A3A3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Streamlit user interface</a:t>
            </a:r>
            <a:endParaRPr sz="115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1137186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B0B0B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01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469890" y="4208501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469890" y="420850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483607" y="1906019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4483607" y="190601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345043" y="1909575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8345043" y="19095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30579" y="4208501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830579" y="420850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8297235" y="4160644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8297235" y="41606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FF79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AGENT 1  ·  SIGNAL GATHERING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global innovation radar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548640" y="2148840"/>
            <a:ext cx="2443734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749808" y="2935224"/>
            <a:ext cx="204139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Mission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749808" y="3502152"/>
            <a:ext cx="204139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Up to 25 sources, up to 35 searches. Covers </a:t>
            </a:r>
            <a:r>
              <a:rPr lang="en-US" sz="105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differents topics</a:t>
            </a: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across competitors </a:t>
            </a:r>
            <a:endParaRPr sz="1050" b="0" i="0" u="none" strike="noStrike" cap="non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3038460" y="3552444"/>
            <a:ext cx="201168" cy="256032"/>
          </a:xfrm>
          <a:prstGeom prst="chevron">
            <a:avLst>
              <a:gd name="adj" fmla="val 50000"/>
            </a:avLst>
          </a:prstGeom>
          <a:solidFill>
            <a:srgbClr val="D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248406" y="2148840"/>
            <a:ext cx="2443734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449574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449574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3449574" y="2935224"/>
            <a:ext cx="204139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Strict exclusions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3449574" y="3502152"/>
            <a:ext cx="204139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Never a source owned or published by Orange or any Orange subsidiary.</a:t>
            </a:r>
            <a:endParaRPr sz="1050" b="0" i="0" u="none" strike="noStrike" cap="non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738226" y="3552444"/>
            <a:ext cx="201168" cy="256032"/>
          </a:xfrm>
          <a:prstGeom prst="chevron">
            <a:avLst>
              <a:gd name="adj" fmla="val 50000"/>
            </a:avLst>
          </a:prstGeom>
          <a:solidFill>
            <a:srgbClr val="D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948172" y="2148840"/>
            <a:ext cx="2443734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149340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6149340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6149340" y="2935224"/>
            <a:ext cx="204139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Quality constraints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149340" y="3502152"/>
            <a:ext cx="204139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Independent, unique sources only. Must explicitly show a competitor advancing faster than Orange. Fewer verified sources beats padding the count with weak ones.</a:t>
            </a:r>
            <a:endParaRPr sz="1050" b="0" i="0" u="none" strike="noStrike" cap="non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8437992" y="3552444"/>
            <a:ext cx="201168" cy="256032"/>
          </a:xfrm>
          <a:prstGeom prst="chevron">
            <a:avLst>
              <a:gd name="adj" fmla="val 50000"/>
            </a:avLst>
          </a:prstGeom>
          <a:solidFill>
            <a:srgbClr val="D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647938" y="2148840"/>
            <a:ext cx="2443734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849106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8849106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8849106" y="2935224"/>
            <a:ext cx="204139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Structured output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8849106" y="3502152"/>
            <a:ext cx="204139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Every signal classified by type, vertical, and country </a:t>
            </a:r>
            <a:r>
              <a:rPr lang="en-US" sz="105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</a:t>
            </a:r>
            <a:r>
              <a:rPr lang="en-US" sz="1050" b="0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source URL, title, date, and excerpt.</a:t>
            </a:r>
            <a:endParaRPr sz="1050" b="0" i="0" u="none" strike="noStrike" cap="non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40" y="5468112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FF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822960" y="5468112"/>
            <a:ext cx="999439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6A00"/>
              </a:buClr>
              <a:buSzPts val="1250"/>
              <a:buFont typeface="Arial" panose="020B0604020202020204"/>
              <a:buNone/>
            </a:pPr>
            <a:r>
              <a:rPr lang="en-US" sz="1250" b="1" i="0" u="none" strike="noStrike" cap="none">
                <a:solidFill>
                  <a:srgbClr val="D06A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Output: 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raw, structured signals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137186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B0B0B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02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FF79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AGENT 2  ·  OPPORTUNITY SPACE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analyst that turns signals into opportunities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48640" y="2148840"/>
            <a:ext cx="3343656" cy="3063240"/>
          </a:xfrm>
          <a:prstGeom prst="roundRect">
            <a:avLst>
              <a:gd name="adj" fmla="val 2388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749808" y="2935224"/>
            <a:ext cx="2941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Freshness check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749808" y="3502152"/>
            <a:ext cx="294132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C5C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targeted web search confirms Orange's capability status hasn't changed since the last update. Any discrepancy is logged, never silently overridden.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3938382" y="3552444"/>
            <a:ext cx="201168" cy="256032"/>
          </a:xfrm>
          <a:prstGeom prst="chevron">
            <a:avLst>
              <a:gd name="adj" fmla="val 50000"/>
            </a:avLst>
          </a:prstGeom>
          <a:solidFill>
            <a:srgbClr val="D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148328" y="2148840"/>
            <a:ext cx="3343656" cy="3063240"/>
          </a:xfrm>
          <a:prstGeom prst="roundRect">
            <a:avLst>
              <a:gd name="adj" fmla="val 2388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349496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349496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4349496" y="2935224"/>
            <a:ext cx="2941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Check against capabilities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4349496" y="3502152"/>
            <a:ext cx="294132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C5C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Default: skip if Orange already covers the same need in the same geography. Override only for a genuine structural gap — new geography, regulation, delivery model, or identified lost deals.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7538070" y="3552444"/>
            <a:ext cx="201168" cy="256032"/>
          </a:xfrm>
          <a:prstGeom prst="chevron">
            <a:avLst>
              <a:gd name="adj" fmla="val 50000"/>
            </a:avLst>
          </a:prstGeom>
          <a:solidFill>
            <a:srgbClr val="D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748016" y="2148840"/>
            <a:ext cx="3343656" cy="3063240"/>
          </a:xfrm>
          <a:prstGeom prst="roundRect">
            <a:avLst>
              <a:gd name="adj" fmla="val 2388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7949184" y="2350008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7949184" y="2350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949184" y="2935224"/>
            <a:ext cx="2941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Weigh strategic relevance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949184" y="3502152"/>
            <a:ext cx="294132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C5C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0–100 score set against the 3 'Trust the Future 2026-2030' ambitions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48640" y="5468112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FFF1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822960" y="5468112"/>
            <a:ext cx="999439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6A00"/>
              </a:buClr>
              <a:buSzPts val="1250"/>
              <a:buFont typeface="Arial" panose="020B0604020202020204"/>
              <a:buNone/>
            </a:pPr>
            <a:r>
              <a:rPr lang="en-US" sz="1250" b="1" i="0" u="none" strike="noStrike" cap="none">
                <a:solidFill>
                  <a:srgbClr val="D06A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Output: 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structured opportunity (vertical, use case, technology, next action) — or a well-argued skip.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1137186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B0B0B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03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8197600" y="2488633"/>
            <a:ext cx="3456431" cy="205593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352544" y="2488634"/>
            <a:ext cx="3456431" cy="205593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37971" y="2488635"/>
            <a:ext cx="3456431" cy="2055933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6858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ONE LINE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85800" y="56692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Arial" panose="020B0604020202020204"/>
              <a:buNone/>
            </a:pPr>
            <a:r>
              <a:rPr lang="en-US" sz="32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we built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1005840" y="25603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Font typeface="Arial" panose="020B0604020202020204"/>
              <a:buNone/>
            </a:pPr>
            <a:r>
              <a:rPr lang="en-US" sz="4600" b="1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908</a:t>
            </a:r>
            <a:endParaRPr sz="4600">
              <a:solidFill>
                <a:schemeClr val="accen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1005840" y="34015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Arial" panose="020B0604020202020204"/>
              <a:buNone/>
            </a:pPr>
            <a:r>
              <a:rPr lang="en-US" sz="14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signals scanned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1005840" y="3767328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440 publications across 20 countries</a:t>
            </a:r>
            <a:endParaRPr sz="1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4800600" y="25603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Font typeface="Arial" panose="020B0604020202020204"/>
              <a:buNone/>
            </a:pPr>
            <a:r>
              <a:rPr lang="en-US" sz="4600" b="1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fr-BE" altLang="en-US" sz="4600" b="1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endParaRPr lang="fr-BE" altLang="en-US" sz="4600" b="1"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4800600" y="34015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Arial" panose="020B0604020202020204"/>
              <a:buNone/>
            </a:pPr>
            <a:r>
              <a:rPr lang="en-US" sz="14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opportunity spaces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4800600" y="3767328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one backed by three or more independent sources that agree</a:t>
            </a:r>
            <a:endParaRPr sz="1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8595360" y="25603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Font typeface="Arial" panose="020B0604020202020204"/>
              <a:buNone/>
            </a:pPr>
            <a:r>
              <a:rPr lang="en-US" sz="4600" b="1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100%</a:t>
            </a:r>
            <a:endParaRPr sz="4600">
              <a:solidFill>
                <a:schemeClr val="accen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8595360" y="3401568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Arial" panose="020B0604020202020204"/>
              <a:buNone/>
            </a:pPr>
            <a:r>
              <a:rPr lang="en-US" sz="14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traceable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8595360" y="3767328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score walks back to the exact articles it was built from</a:t>
            </a:r>
            <a:endParaRPr sz="1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11383151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B0B0B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04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7370064" y="594360"/>
            <a:ext cx="5669280" cy="5669280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8163763" y="1388059"/>
            <a:ext cx="4081882" cy="408188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8900770" y="2125066"/>
            <a:ext cx="2607869" cy="2607869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9709099" y="2805379"/>
            <a:ext cx="1247242" cy="1247242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0204704" y="3300984"/>
            <a:ext cx="256032" cy="25603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9189720" y="2670048"/>
            <a:ext cx="182880" cy="1828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1247120" y="4343400"/>
            <a:ext cx="146304" cy="146304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82293" y="3041499"/>
            <a:ext cx="900853" cy="90085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 txBox="1"/>
          <p:nvPr/>
        </p:nvSpPr>
        <p:spPr>
          <a:xfrm>
            <a:off x="822960" y="201168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 panose="020B0604020202020204"/>
              <a:buNone/>
            </a:pPr>
            <a:r>
              <a:rPr lang="en-US" sz="6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Demo</a:t>
            </a:r>
            <a:endParaRPr sz="6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6612014" y="1690214"/>
            <a:ext cx="4362027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350151" y="1690214"/>
            <a:ext cx="4362027" cy="3063240"/>
          </a:xfrm>
          <a:prstGeom prst="roundRect">
            <a:avLst>
              <a:gd name="adj" fmla="val 2993"/>
            </a:avLst>
          </a:prstGeom>
          <a:solidFill>
            <a:srgbClr val="F4F4F4"/>
          </a:solidFill>
          <a:ln>
            <a:noFill/>
          </a:ln>
          <a:effectLst>
            <a:outerShdw blurRad="762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6858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LET’S CONTINUE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685800" y="56692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Arial" panose="020B0604020202020204"/>
              <a:buNone/>
            </a:pPr>
            <a:r>
              <a:rPr lang="en-US" sz="320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limitations and improvements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865677" y="1935099"/>
            <a:ext cx="475488" cy="4754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6865677" y="1976247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865677" y="2867447"/>
            <a:ext cx="475488" cy="4754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6865677" y="2908595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672337" y="3796084"/>
            <a:ext cx="475488" cy="475488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1672337" y="3837232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505193" y="2902789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Monthly schedule and automatic generation 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505193" y="1958789"/>
            <a:ext cx="3193287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Customize strategic aims and target personas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672337" y="1935099"/>
            <a:ext cx="475488" cy="475488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1672337" y="1976247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2348993" y="2047113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we look for shapes what we find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675725" y="2867447"/>
            <a:ext cx="475488" cy="475488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1675725" y="2908595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2348993" y="2921155"/>
            <a:ext cx="3093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Manual scraping of signals and creation of opportunity space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2376764" y="3905924"/>
            <a:ext cx="2882448" cy="29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Country-specific implementations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908804" y="3796084"/>
            <a:ext cx="475488" cy="4754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6908804" y="3837232"/>
            <a:ext cx="47548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 panose="020B0604020202020204"/>
              <a:buNone/>
            </a:pPr>
            <a:r>
              <a:rPr lang="en-US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505193" y="3936404"/>
            <a:ext cx="2962429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Arial" panose="020B0604020202020204"/>
              <a:buNone/>
            </a:pPr>
            <a:r>
              <a:rPr lang="en-US" sz="1350" b="1">
                <a:solidFill>
                  <a:srgbClr val="1212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Check country potential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1137186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B0B0B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05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7498080" y="594360"/>
            <a:ext cx="5669280" cy="5669280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8291779" y="1388059"/>
            <a:ext cx="4081882" cy="408188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028786" y="2125066"/>
            <a:ext cx="2607869" cy="2607869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9709099" y="2805379"/>
            <a:ext cx="1247242" cy="1247242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0204704" y="3300984"/>
            <a:ext cx="256032" cy="25603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9189720" y="2670048"/>
            <a:ext cx="182880" cy="1828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1247120" y="4343400"/>
            <a:ext cx="146304" cy="146304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365760" y="2706624"/>
            <a:ext cx="6338621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 panose="020B0604020202020204"/>
              <a:buNone/>
            </a:pPr>
            <a:r>
              <a:rPr lang="en-US" sz="6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 for your attention</a:t>
            </a:r>
            <a:endParaRPr sz="6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7498080" y="594360"/>
            <a:ext cx="5669280" cy="5669280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8291779" y="1388059"/>
            <a:ext cx="4081882" cy="408188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028786" y="2125066"/>
            <a:ext cx="2607869" cy="2607869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9709099" y="2805379"/>
            <a:ext cx="1247242" cy="1247242"/>
          </a:xfrm>
          <a:prstGeom prst="ellipse">
            <a:avLst/>
          </a:prstGeom>
          <a:noFill/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0204704" y="3300984"/>
            <a:ext cx="256032" cy="25603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9189720" y="2670048"/>
            <a:ext cx="182880" cy="1828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1247120" y="4343400"/>
            <a:ext cx="146304" cy="146304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365760" y="2706624"/>
            <a:ext cx="6338621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 panose="020B0604020202020204"/>
              <a:buNone/>
            </a:pPr>
            <a:r>
              <a:rPr lang="fr-BE" sz="6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Additional slides on scores calculation</a:t>
            </a:r>
            <a:endParaRPr lang="fr-BE" sz="60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0" y="0"/>
            <a:ext cx="374910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14"/>
          <p:cNvSpPr txBox="1"/>
          <p:nvPr/>
        </p:nvSpPr>
        <p:spPr>
          <a:xfrm>
            <a:off x="457200" y="5029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57200" y="1234440"/>
            <a:ext cx="1874400" cy="384000"/>
          </a:xfrm>
          <a:prstGeom prst="roundRect">
            <a:avLst>
              <a:gd name="adj" fmla="val 50000"/>
            </a:avLst>
          </a:prstGeom>
          <a:solidFill>
            <a:srgbClr val="FFFFFF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4"/>
          <p:cNvSpPr txBox="1"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CODE-CALCULATED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411480" y="214884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 panose="02040503050406030204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30%</a:t>
            </a:r>
            <a:endParaRPr sz="8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457200" y="34290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the attractiveness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457200" y="58064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much “buzz” a topic is generating right now.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4251960" y="457200"/>
            <a:ext cx="7525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Market Signal Strength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251960" y="1554480"/>
            <a:ext cx="502800" cy="5028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14"/>
          <p:cNvSpPr txBox="1"/>
          <p:nvPr/>
        </p:nvSpPr>
        <p:spPr>
          <a:xfrm>
            <a:off x="4251960" y="155448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4937760" y="1517904"/>
            <a:ext cx="6794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Volume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4937760" y="1901952"/>
            <a:ext cx="6656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Number of collected signals in the cluster, on a logarithmic curve. Diminishing returns: 1→2 articles moves the score more than 9→10. Saturates near 100 around 10 articles.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251960" y="2743200"/>
            <a:ext cx="502800" cy="5028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4"/>
          <p:cNvSpPr txBox="1"/>
          <p:nvPr/>
        </p:nvSpPr>
        <p:spPr>
          <a:xfrm>
            <a:off x="4251960" y="27432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4937760" y="2706624"/>
            <a:ext cx="6794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Google Trends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4937760" y="3090672"/>
            <a:ext cx="6656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Real public search interest for the technology keyword over the last 12 months (via pytrends). Values below a noise floor of 15 are ignored entirely.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251960" y="3977640"/>
            <a:ext cx="7479900" cy="96000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4"/>
          <p:cNvSpPr txBox="1"/>
          <p:nvPr/>
        </p:nvSpPr>
        <p:spPr>
          <a:xfrm>
            <a:off x="4480560" y="4114800"/>
            <a:ext cx="7022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00"/>
              <a:buFont typeface="Calibri" panose="020F0502020204030204"/>
              <a:buNone/>
            </a:pPr>
            <a:r>
              <a:rPr lang="en-US" sz="1500" b="1" i="0" u="none" strike="noStrike" cap="none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max(Volume, Trends)  </a:t>
            </a:r>
            <a:r>
              <a:rPr lang="en-US" sz="1250" b="0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— not an average. A topic only needs to be strong on ONE dimension (press coverage OR public search) to score well. This protects precise B2B terms (e.g. “Private 5G + MEC”) that Trends under-reports.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4251960" y="5166360"/>
            <a:ext cx="7479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Calibri" panose="020F0502020204030204"/>
              <a:buNone/>
            </a:pPr>
            <a:r>
              <a:rPr lang="en-US" sz="1150" b="0" i="1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Cached to disk for 7 days per keyword. If Google throttles requests, a ~2-hour cooldown kicks in and scoring falls back cleanly to volume-only.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0" y="0"/>
            <a:ext cx="3749100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5"/>
          <p:cNvSpPr txBox="1"/>
          <p:nvPr/>
        </p:nvSpPr>
        <p:spPr>
          <a:xfrm>
            <a:off x="457200" y="5029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457200" y="1234440"/>
            <a:ext cx="1874400" cy="384000"/>
          </a:xfrm>
          <a:prstGeom prst="roundRect">
            <a:avLst>
              <a:gd name="adj" fmla="val 50000"/>
            </a:avLst>
          </a:prstGeom>
          <a:solidFill>
            <a:srgbClr val="FFFFFF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15"/>
          <p:cNvSpPr txBox="1"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CODE-CALCULATED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11480" y="214884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 panose="02040503050406030204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20%</a:t>
            </a:r>
            <a:endParaRPr sz="8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457200" y="34290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the attractiveness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457200" y="58064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 this opportunity confirmed by many independent voices, or just one loud one?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4251960" y="457200"/>
            <a:ext cx="7525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Source Diversity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251960" y="1554480"/>
            <a:ext cx="7479900" cy="105150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15"/>
          <p:cNvSpPr txBox="1"/>
          <p:nvPr/>
        </p:nvSpPr>
        <p:spPr>
          <a:xfrm>
            <a:off x="4526280" y="1691640"/>
            <a:ext cx="693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13233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(distinct sources ÷ total articles) × 100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4526280" y="2194560"/>
            <a:ext cx="6931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1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computed after normalizing source-name variants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4251960" y="2880360"/>
            <a:ext cx="7479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normalize first?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4251960" y="3291840"/>
            <a:ext cx="7479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Without it, the same publisher can be double-counted under two names and make a single-source story look diverse.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4251960" y="4023360"/>
            <a:ext cx="3557100" cy="1417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15"/>
          <p:cNvSpPr txBox="1"/>
          <p:nvPr/>
        </p:nvSpPr>
        <p:spPr>
          <a:xfrm>
            <a:off x="4434840" y="4160520"/>
            <a:ext cx="3191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“Deutsche Telekom (media information)”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4434840" y="4754880"/>
            <a:ext cx="3191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“Deutsche Telekom (telekom.com)”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8174736" y="4023360"/>
            <a:ext cx="3557100" cy="1417200"/>
          </a:xfrm>
          <a:prstGeom prst="roundRect">
            <a:avLst>
              <a:gd name="adj" fmla="val 5161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15"/>
          <p:cNvSpPr txBox="1"/>
          <p:nvPr/>
        </p:nvSpPr>
        <p:spPr>
          <a:xfrm>
            <a:off x="8357616" y="4023360"/>
            <a:ext cx="31914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 panose="020F0502020204030204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counted as ONE source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0"/>
            <a:ext cx="374910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16"/>
          <p:cNvSpPr txBox="1"/>
          <p:nvPr/>
        </p:nvSpPr>
        <p:spPr>
          <a:xfrm>
            <a:off x="457200" y="5029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57200" y="1234440"/>
            <a:ext cx="1874400" cy="384000"/>
          </a:xfrm>
          <a:prstGeom prst="roundRect">
            <a:avLst>
              <a:gd name="adj" fmla="val 50000"/>
            </a:avLst>
          </a:prstGeom>
          <a:solidFill>
            <a:srgbClr val="FFFFFF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16"/>
          <p:cNvSpPr txBox="1"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CODE-CALCULATED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411480" y="214884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 panose="02040503050406030204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15%</a:t>
            </a:r>
            <a:endParaRPr sz="8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457200" y="34290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the attractiveness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457200" y="58064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Are the sources credible and independent — or self-published press releases?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4251960" y="457200"/>
            <a:ext cx="7525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Evidence Quality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4251960" y="1417320"/>
            <a:ext cx="747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FF79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evidence_quality = 100 − (average_tier − 1) × 25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4251960" y="1828800"/>
            <a:ext cx="747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signal's source is matched to a 1–5 tier in source_registry.csv; the cluster's average tier is converted to a 0–100 score.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65" name="Google Shape;265;p16"/>
          <p:cNvGraphicFramePr/>
          <p:nvPr/>
        </p:nvGraphicFramePr>
        <p:xfrm>
          <a:off x="4251960" y="2423160"/>
          <a:ext cx="7479800" cy="3000000"/>
        </p:xfrm>
        <a:graphic>
          <a:graphicData uri="http://schemas.openxmlformats.org/drawingml/2006/table">
            <a:tbl>
              <a:tblPr>
                <a:noFill/>
                <a:tableStyleId>{E6340274-50B1-4DA7-9ADA-E795DD4E41A7}</a:tableStyleId>
              </a:tblPr>
              <a:tblGrid>
                <a:gridCol w="594350"/>
                <a:gridCol w="3593600"/>
                <a:gridCol w="2377450"/>
                <a:gridCol w="914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Tier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Source type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Examples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Score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Regulators, wire services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BIPT, FCC, Reuters, Bloomberg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>
                          <a:solidFill>
                            <a:srgbClr val="FF79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Paid analyst firms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Gartner, Omdia, GSMA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>
                          <a:solidFill>
                            <a:srgbClr val="FF79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Specialized trade press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Light Reading, Fierce Network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>
                          <a:solidFill>
                            <a:srgbClr val="FF79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Aggregators, wire distribution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BusinessWire, EuropaWire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>
                          <a:solidFill>
                            <a:srgbClr val="FF79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Company-owned press releases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2323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Vodafone Newsroom, AT&amp;T Press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>
                          <a:solidFill>
                            <a:srgbClr val="FF79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16"/>
          <p:cNvSpPr/>
          <p:nvPr/>
        </p:nvSpPr>
        <p:spPr>
          <a:xfrm>
            <a:off x="4251960" y="5303520"/>
            <a:ext cx="7479900" cy="105150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16"/>
          <p:cNvSpPr txBox="1"/>
          <p:nvPr/>
        </p:nvSpPr>
        <p:spPr>
          <a:xfrm>
            <a:off x="4480560" y="5394960"/>
            <a:ext cx="7022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Calibri" panose="020F0502020204030204"/>
              <a:buNone/>
            </a:pPr>
            <a:r>
              <a:rPr lang="en-US" sz="1250" b="1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</a:t>
            </a: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 press-release signals (tier 5) + 1 Reuters signal (tier 1) → average tier 4.0 → evidence_quality = 25. Deliberately narrow: measures credibility only, not diversity or recency.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/>
          <p:nvPr/>
        </p:nvSpPr>
        <p:spPr>
          <a:xfrm>
            <a:off x="0" y="0"/>
            <a:ext cx="3749100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7"/>
          <p:cNvSpPr txBox="1"/>
          <p:nvPr/>
        </p:nvSpPr>
        <p:spPr>
          <a:xfrm>
            <a:off x="457200" y="5029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457200" y="1234440"/>
            <a:ext cx="1874400" cy="384000"/>
          </a:xfrm>
          <a:prstGeom prst="roundRect">
            <a:avLst>
              <a:gd name="adj" fmla="val 50000"/>
            </a:avLst>
          </a:prstGeom>
          <a:solidFill>
            <a:srgbClr val="FFFFFF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7"/>
          <p:cNvSpPr txBox="1"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CODE-CALCULATED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411480" y="214884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 panose="02040503050406030204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15%</a:t>
            </a:r>
            <a:endParaRPr sz="8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457200" y="34290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the attractiveness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457200" y="58064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Formerly “novelty_momentum” — renamed for clarity, same computation.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4251960" y="457200"/>
            <a:ext cx="7525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Urgency / Time Horizon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4251960" y="1463040"/>
            <a:ext cx="7479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2323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Average recency of the cluster's signals, using continuous exponential decay — not step buckets.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4251960" y="2286000"/>
            <a:ext cx="2249400" cy="1737300"/>
          </a:xfrm>
          <a:prstGeom prst="roundRect">
            <a:avLst>
              <a:gd name="adj" fmla="val 4211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3" name="Google Shape;283;p17"/>
          <p:cNvSpPr txBox="1"/>
          <p:nvPr/>
        </p:nvSpPr>
        <p:spPr>
          <a:xfrm>
            <a:off x="4251960" y="2423160"/>
            <a:ext cx="224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FF79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≈100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4251960" y="3337560"/>
            <a:ext cx="224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published today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867144" y="2286000"/>
            <a:ext cx="2249400" cy="1737300"/>
          </a:xfrm>
          <a:prstGeom prst="roundRect">
            <a:avLst>
              <a:gd name="adj" fmla="val 4211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17"/>
          <p:cNvSpPr txBox="1"/>
          <p:nvPr/>
        </p:nvSpPr>
        <p:spPr>
          <a:xfrm>
            <a:off x="6867144" y="2423160"/>
            <a:ext cx="224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FF79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≈50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6867144" y="3337560"/>
            <a:ext cx="224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≈ 9 months old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9482328" y="2286000"/>
            <a:ext cx="2249400" cy="1737300"/>
          </a:xfrm>
          <a:prstGeom prst="roundRect">
            <a:avLst>
              <a:gd name="adj" fmla="val 4211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17"/>
          <p:cNvSpPr txBox="1"/>
          <p:nvPr/>
        </p:nvSpPr>
        <p:spPr>
          <a:xfrm>
            <a:off x="9482328" y="2423160"/>
            <a:ext cx="224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FF79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≈25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9482328" y="3337560"/>
            <a:ext cx="224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≈ 18 months old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251960" y="4343400"/>
            <a:ext cx="7479900" cy="1280100"/>
          </a:xfrm>
          <a:prstGeom prst="roundRect">
            <a:avLst>
              <a:gd name="adj" fmla="val 5714"/>
            </a:avLst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17"/>
          <p:cNvSpPr txBox="1"/>
          <p:nvPr/>
        </p:nvSpPr>
        <p:spPr>
          <a:xfrm>
            <a:off x="4526280" y="4434840"/>
            <a:ext cx="69312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 panose="020F0502020204030204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replaced an earlier design where the LLM was asked to guess this value. Recency is fully determinable from publish dates — no judgment call is needed here, so it moved from the LLM to code.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/>
          <p:nvPr/>
        </p:nvSpPr>
        <p:spPr>
          <a:xfrm>
            <a:off x="0" y="0"/>
            <a:ext cx="374910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18"/>
          <p:cNvSpPr txBox="1"/>
          <p:nvPr/>
        </p:nvSpPr>
        <p:spPr>
          <a:xfrm>
            <a:off x="457200" y="5029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 panose="02040503050406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05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457200" y="1234440"/>
            <a:ext cx="1691700" cy="384000"/>
          </a:xfrm>
          <a:prstGeom prst="roundRect">
            <a:avLst>
              <a:gd name="adj" fmla="val 50000"/>
            </a:avLst>
          </a:prstGeom>
          <a:solidFill>
            <a:srgbClr val="FFFFFF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18"/>
          <p:cNvSpPr txBox="1"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LLM-JUDGED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411480" y="214884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 panose="02040503050406030204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20%</a:t>
            </a:r>
            <a:endParaRPr sz="8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457200" y="34290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the attractiveness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457200" y="58064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one genuinely qualitative question in the whole formula.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4251960" y="457200"/>
            <a:ext cx="75255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Strategic Relevance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4251960" y="1417320"/>
            <a:ext cx="7479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50"/>
              <a:buFont typeface="Calibri" panose="020F0502020204030204"/>
              <a:buNone/>
            </a:pPr>
            <a:r>
              <a:rPr lang="en-US" sz="1450" b="0" i="0" u="none" strike="noStrike" cap="none">
                <a:solidFill>
                  <a:srgbClr val="D9D9D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Does this opportunity matter to Orange's strategy beyond what volume, recency, and source quality already show?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4251960" y="2148840"/>
            <a:ext cx="7479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50"/>
              <a:buFont typeface="Calibri" panose="020F0502020204030204"/>
              <a:buNone/>
            </a:pPr>
            <a:r>
              <a:rPr lang="en-US" sz="1250" b="0" i="1" u="none" strike="noStrike" cap="none">
                <a:solidFill>
                  <a:srgbClr val="9A9A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Grounded in Orange's “Trust the Future” 2026–2030 plan — the “Growth through Innovation” ambition names cybersecurity, trusted cloud, AI, and B2B services as explicit targets.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4251960" y="2971800"/>
            <a:ext cx="7479900" cy="1051500"/>
          </a:xfrm>
          <a:prstGeom prst="roundRect">
            <a:avLst>
              <a:gd name="adj" fmla="val 6957"/>
            </a:avLst>
          </a:prstGeom>
          <a:solidFill>
            <a:srgbClr val="2323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18"/>
          <p:cNvSpPr/>
          <p:nvPr/>
        </p:nvSpPr>
        <p:spPr>
          <a:xfrm>
            <a:off x="4480560" y="3200400"/>
            <a:ext cx="1417200" cy="594300"/>
          </a:xfrm>
          <a:prstGeom prst="roundRect">
            <a:avLst>
              <a:gd name="adj" fmla="val 15385"/>
            </a:avLst>
          </a:prstGeom>
          <a:solidFill>
            <a:srgbClr val="3FA3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18"/>
          <p:cNvSpPr txBox="1"/>
          <p:nvPr/>
        </p:nvSpPr>
        <p:spPr>
          <a:xfrm>
            <a:off x="4480560" y="3200400"/>
            <a:ext cx="1417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70–90+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6126480" y="2971800"/>
            <a:ext cx="5376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E8E8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Matches a named strategic priority directly.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251960" y="4206240"/>
            <a:ext cx="7479900" cy="1051500"/>
          </a:xfrm>
          <a:prstGeom prst="roundRect">
            <a:avLst>
              <a:gd name="adj" fmla="val 6957"/>
            </a:avLst>
          </a:prstGeom>
          <a:solidFill>
            <a:srgbClr val="2323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18"/>
          <p:cNvSpPr/>
          <p:nvPr/>
        </p:nvSpPr>
        <p:spPr>
          <a:xfrm>
            <a:off x="4480560" y="4434840"/>
            <a:ext cx="1417200" cy="594300"/>
          </a:xfrm>
          <a:prstGeom prst="roundRect">
            <a:avLst>
              <a:gd name="adj" fmla="val 15385"/>
            </a:avLst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18"/>
          <p:cNvSpPr txBox="1"/>
          <p:nvPr/>
        </p:nvSpPr>
        <p:spPr>
          <a:xfrm>
            <a:off x="4480560" y="4434840"/>
            <a:ext cx="1417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50–70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6126480" y="4206240"/>
            <a:ext cx="5376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E8E8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Good general enterprise-connectivity fit, outside the named pillars.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251960" y="5440680"/>
            <a:ext cx="7479900" cy="1051500"/>
          </a:xfrm>
          <a:prstGeom prst="roundRect">
            <a:avLst>
              <a:gd name="adj" fmla="val 6957"/>
            </a:avLst>
          </a:prstGeom>
          <a:solidFill>
            <a:srgbClr val="2323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18"/>
          <p:cNvSpPr/>
          <p:nvPr/>
        </p:nvSpPr>
        <p:spPr>
          <a:xfrm>
            <a:off x="4480560" y="5669280"/>
            <a:ext cx="1417200" cy="594300"/>
          </a:xfrm>
          <a:prstGeom prst="roundRect">
            <a:avLst>
              <a:gd name="adj" fmla="val 15385"/>
            </a:avLst>
          </a:prstGeom>
          <a:solidFill>
            <a:srgbClr val="8A2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18"/>
          <p:cNvSpPr txBox="1"/>
          <p:nvPr/>
        </p:nvSpPr>
        <p:spPr>
          <a:xfrm>
            <a:off x="4480560" y="5669280"/>
            <a:ext cx="1417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&lt; 50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6126480" y="5440680"/>
            <a:ext cx="5376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E8E8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area Orange has explicitly exited or has no footprint/ambition in.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/>
        </p:nvSpPr>
        <p:spPr>
          <a:xfrm>
            <a:off x="457200" y="32004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D1D1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How a Cluster Becomes an Opportunity Space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457200" y="932688"/>
            <a:ext cx="1127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 panose="020F0502020204030204"/>
              <a:buNone/>
            </a:pPr>
            <a:r>
              <a:rPr lang="en-US" sz="150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Turning raw market signals into a validated opportunity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57200" y="1463040"/>
            <a:ext cx="5303400" cy="1051500"/>
          </a:xfrm>
          <a:prstGeom prst="roundRect">
            <a:avLst>
              <a:gd name="adj" fmla="val 8696"/>
            </a:avLst>
          </a:prstGeom>
          <a:solidFill>
            <a:srgbClr val="FDE9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19"/>
          <p:cNvSpPr txBox="1"/>
          <p:nvPr/>
        </p:nvSpPr>
        <p:spPr>
          <a:xfrm>
            <a:off x="685800" y="1572768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is an embedding?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685800" y="1856232"/>
            <a:ext cx="48462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vector of numbers that captures a signal's meaning. Signals about similar topics land close together in that vector space — unrelated ones sit far apart.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p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1078992" y="2697480"/>
            <a:ext cx="468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Embed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1078992" y="3008376"/>
            <a:ext cx="4681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market signal collected by the agent — an article, report, or press release — is converted into an embedding vector.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19"/>
          <p:cNvSpPr txBox="1"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1078992" y="3931920"/>
            <a:ext cx="468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1078992" y="4242816"/>
            <a:ext cx="4681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Cosine similarity measures how close two vectors are: 1.0 means identical topics, 0 means unrelated.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57200" y="521208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19"/>
          <p:cNvSpPr txBox="1"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1078992" y="5166360"/>
            <a:ext cx="468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Cluster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1078992" y="5477256"/>
            <a:ext cx="4681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3 or more signals sit above 0.82 similarity with each other, they are grouped into one opportunity space.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6126480" y="1463040"/>
            <a:ext cx="5605200" cy="3291900"/>
          </a:xfrm>
          <a:prstGeom prst="roundRect">
            <a:avLst>
              <a:gd name="adj" fmla="val 3333"/>
            </a:avLst>
          </a:prstGeom>
          <a:solidFill>
            <a:srgbClr val="F3F2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19"/>
          <p:cNvSpPr txBox="1"/>
          <p:nvPr/>
        </p:nvSpPr>
        <p:spPr>
          <a:xfrm>
            <a:off x="6400800" y="1627632"/>
            <a:ext cx="5056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Signal embedding space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6620256" y="209397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19"/>
          <p:cNvSpPr/>
          <p:nvPr/>
        </p:nvSpPr>
        <p:spPr>
          <a:xfrm>
            <a:off x="6848856" y="392277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6" name="Google Shape;346;p19"/>
          <p:cNvSpPr/>
          <p:nvPr/>
        </p:nvSpPr>
        <p:spPr>
          <a:xfrm>
            <a:off x="7214616" y="264261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19"/>
          <p:cNvSpPr/>
          <p:nvPr/>
        </p:nvSpPr>
        <p:spPr>
          <a:xfrm>
            <a:off x="7488936" y="410565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8" name="Google Shape;348;p19"/>
          <p:cNvSpPr/>
          <p:nvPr/>
        </p:nvSpPr>
        <p:spPr>
          <a:xfrm>
            <a:off x="7854696" y="300837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p19"/>
          <p:cNvSpPr/>
          <p:nvPr/>
        </p:nvSpPr>
        <p:spPr>
          <a:xfrm>
            <a:off x="8174736" y="227685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19"/>
          <p:cNvSpPr/>
          <p:nvPr/>
        </p:nvSpPr>
        <p:spPr>
          <a:xfrm>
            <a:off x="8951976" y="401421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1" name="Google Shape;351;p19"/>
          <p:cNvSpPr/>
          <p:nvPr/>
        </p:nvSpPr>
        <p:spPr>
          <a:xfrm>
            <a:off x="10049256" y="204825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19"/>
          <p:cNvSpPr/>
          <p:nvPr/>
        </p:nvSpPr>
        <p:spPr>
          <a:xfrm>
            <a:off x="10415016" y="387705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3" name="Google Shape;353;p19"/>
          <p:cNvSpPr/>
          <p:nvPr/>
        </p:nvSpPr>
        <p:spPr>
          <a:xfrm>
            <a:off x="10780776" y="264261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19"/>
          <p:cNvSpPr/>
          <p:nvPr/>
        </p:nvSpPr>
        <p:spPr>
          <a:xfrm>
            <a:off x="11055096" y="364845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5" name="Google Shape;355;p19"/>
          <p:cNvSpPr/>
          <p:nvPr/>
        </p:nvSpPr>
        <p:spPr>
          <a:xfrm>
            <a:off x="6665976" y="337413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19"/>
          <p:cNvSpPr/>
          <p:nvPr/>
        </p:nvSpPr>
        <p:spPr>
          <a:xfrm>
            <a:off x="8878824" y="3182112"/>
            <a:ext cx="128100" cy="128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19"/>
          <p:cNvSpPr/>
          <p:nvPr/>
        </p:nvSpPr>
        <p:spPr>
          <a:xfrm>
            <a:off x="9061704" y="3364992"/>
            <a:ext cx="128100" cy="128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8" name="Google Shape;358;p19"/>
          <p:cNvSpPr/>
          <p:nvPr/>
        </p:nvSpPr>
        <p:spPr>
          <a:xfrm>
            <a:off x="9226296" y="3118104"/>
            <a:ext cx="128100" cy="128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19"/>
          <p:cNvSpPr/>
          <p:nvPr/>
        </p:nvSpPr>
        <p:spPr>
          <a:xfrm>
            <a:off x="9006840" y="2971800"/>
            <a:ext cx="128100" cy="128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19"/>
          <p:cNvSpPr/>
          <p:nvPr/>
        </p:nvSpPr>
        <p:spPr>
          <a:xfrm>
            <a:off x="8549640" y="2788920"/>
            <a:ext cx="1051500" cy="777300"/>
          </a:xfrm>
          <a:prstGeom prst="ellipse">
            <a:avLst/>
          </a:prstGeom>
          <a:noFill/>
          <a:ln w="22225" cap="flat" cmpd="sng">
            <a:solidFill>
              <a:srgbClr val="FF79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p19"/>
          <p:cNvSpPr txBox="1"/>
          <p:nvPr/>
        </p:nvSpPr>
        <p:spPr>
          <a:xfrm>
            <a:off x="8183880" y="1920240"/>
            <a:ext cx="17832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100"/>
              <a:buFont typeface="Calibri" panose="020F0502020204030204"/>
              <a:buNone/>
            </a:pPr>
            <a:r>
              <a:rPr lang="en-US" sz="1100" b="1" i="0" u="none" strike="noStrike" cap="none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Opportunity space</a:t>
            </a:r>
            <a:br>
              <a:rPr lang="en-US" sz="1100" b="1" i="0" u="none" strike="noStrike" cap="none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1D1D1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 signals · sim &gt; 0.82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62" name="Google Shape;362;p19"/>
          <p:cNvCxnSpPr/>
          <p:nvPr/>
        </p:nvCxnSpPr>
        <p:spPr>
          <a:xfrm>
            <a:off x="9052560" y="2487168"/>
            <a:ext cx="0" cy="292500"/>
          </a:xfrm>
          <a:prstGeom prst="straightConnector1">
            <a:avLst/>
          </a:prstGeom>
          <a:noFill/>
          <a:ln w="12700" cap="flat" cmpd="sng">
            <a:solidFill>
              <a:srgbClr val="FF79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63" name="Google Shape;363;p19"/>
          <p:cNvSpPr/>
          <p:nvPr/>
        </p:nvSpPr>
        <p:spPr>
          <a:xfrm>
            <a:off x="6400800" y="4425696"/>
            <a:ext cx="109800" cy="109800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19"/>
          <p:cNvSpPr txBox="1"/>
          <p:nvPr/>
        </p:nvSpPr>
        <p:spPr>
          <a:xfrm>
            <a:off x="6583680" y="4370832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Calibri" panose="020F0502020204030204"/>
              <a:buNone/>
            </a:pPr>
            <a:r>
              <a:rPr lang="en-US" sz="10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Individual signal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8641080" y="4416552"/>
            <a:ext cx="128100" cy="128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19"/>
          <p:cNvSpPr txBox="1"/>
          <p:nvPr/>
        </p:nvSpPr>
        <p:spPr>
          <a:xfrm>
            <a:off x="8851392" y="4370832"/>
            <a:ext cx="2560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Calibri" panose="020F0502020204030204"/>
              <a:buNone/>
            </a:pPr>
            <a:r>
              <a:rPr lang="en-US" sz="10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Signal inside a forming cluster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6126480" y="4892040"/>
            <a:ext cx="266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000"/>
              <a:buFont typeface="Calibri" panose="020F0502020204030204"/>
              <a:buNone/>
            </a:pPr>
            <a:r>
              <a:rPr lang="en-US" sz="4000" b="1" i="0" u="none" strike="noStrike" cap="none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≥ 3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6126480" y="5394960"/>
            <a:ext cx="2665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signals minimum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9066276" y="4892040"/>
            <a:ext cx="266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000"/>
              <a:buFont typeface="Calibri" panose="020F0502020204030204"/>
              <a:buNone/>
            </a:pPr>
            <a:r>
              <a:rPr lang="en-US" sz="4000" b="1" i="0" u="none" strike="noStrike" cap="none">
                <a:solidFill>
                  <a:srgbClr val="FF7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&gt; 0.82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9066276" y="5394960"/>
            <a:ext cx="2665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cosine similarity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6126480" y="5806440"/>
            <a:ext cx="56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Thresholds set in scripts/opportunity_spaces.py — MIN_CLUSTER_SIZE and the similarity cutoff.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6869</Words>
  <Application>WPS Presentation</Application>
  <PresentationFormat/>
  <Paragraphs>402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Maha Lakshmi</cp:lastModifiedBy>
  <cp:revision>2</cp:revision>
  <dcterms:created xsi:type="dcterms:W3CDTF">2026-08-31T09:37:00Z</dcterms:created>
  <dcterms:modified xsi:type="dcterms:W3CDTF">2026-08-31T09:44:16Z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2747481C0AAF4E7781F08A1BDDFC5FFE_12</vt:lpwstr>
  </property>
  <property fmtid="{D5CDD505-2E9C-101B-9397-08002B2CF9AE}" pid="3" name="KSOProductBuildVer">
    <vt:lpwstr>1033-12.1.0.28485</vt:lpwstr>
  </property>
</Properties>
</file>